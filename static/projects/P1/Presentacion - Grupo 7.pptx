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Montserrat Bold" charset="1" panose="00000800000000000000"/>
      <p:regular r:id="rId48"/>
    </p:embeddedFont>
    <p:embeddedFont>
      <p:font typeface="Arimo Bold" charset="1" panose="020B0704020202020204"/>
      <p:regular r:id="rId49"/>
    </p:embeddedFont>
    <p:embeddedFont>
      <p:font typeface="Montserrat" charset="1" panose="00000500000000000000"/>
      <p:regular r:id="rId50"/>
    </p:embeddedFont>
    <p:embeddedFont>
      <p:font typeface="Libre Baskerville" charset="1" panose="02000000000000000000"/>
      <p:regular r:id="rId51"/>
    </p:embeddedFont>
    <p:embeddedFont>
      <p:font typeface="Libre Baskerville Bold" charset="1" panose="02000000000000000000"/>
      <p:regular r:id="rId52"/>
    </p:embeddedFont>
    <p:embeddedFont>
      <p:font typeface="Open Sans" charset="1" panose="020B060603050402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45.png" Type="http://schemas.openxmlformats.org/officeDocument/2006/relationships/image"/><Relationship Id="rId14" Target="../media/image46.sv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2" Target="../media/image36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media/image36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3519823" y="332277"/>
            <a:ext cx="5837977" cy="18849595"/>
          </a:xfrm>
          <a:custGeom>
            <a:avLst/>
            <a:gdLst/>
            <a:ahLst/>
            <a:cxnLst/>
            <a:rect r="r" b="b" t="t" l="l"/>
            <a:pathLst>
              <a:path h="18849595" w="5837977">
                <a:moveTo>
                  <a:pt x="0" y="0"/>
                </a:moveTo>
                <a:lnTo>
                  <a:pt x="5837977" y="0"/>
                </a:lnTo>
                <a:lnTo>
                  <a:pt x="5837977" y="18849595"/>
                </a:lnTo>
                <a:lnTo>
                  <a:pt x="0" y="18849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362850" y="1028700"/>
            <a:ext cx="9999261" cy="9999261"/>
          </a:xfrm>
          <a:custGeom>
            <a:avLst/>
            <a:gdLst/>
            <a:ahLst/>
            <a:cxnLst/>
            <a:rect r="r" b="b" t="t" l="l"/>
            <a:pathLst>
              <a:path h="9999261" w="9999261">
                <a:moveTo>
                  <a:pt x="0" y="0"/>
                </a:moveTo>
                <a:lnTo>
                  <a:pt x="9999261" y="0"/>
                </a:lnTo>
                <a:lnTo>
                  <a:pt x="9999261" y="9999261"/>
                </a:lnTo>
                <a:lnTo>
                  <a:pt x="0" y="999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04468"/>
            <a:ext cx="10154842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4"/>
              </a:lnSpc>
            </a:pPr>
            <a:r>
              <a:rPr lang="en-US" sz="5462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Trabajo práctico Integrador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0217" y="2284699"/>
            <a:ext cx="9243379" cy="2604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6"/>
              </a:lnSpc>
            </a:pPr>
            <a:r>
              <a:rPr lang="en-US" b="true" sz="9583" spc="316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Compañía de Seguros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3894" y="6573335"/>
            <a:ext cx="9054400" cy="1050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012" spc="135" b="tru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 de Datos Empresariales</a:t>
            </a:r>
          </a:p>
          <a:p>
            <a:pPr algn="l">
              <a:lnSpc>
                <a:spcPts val="4218"/>
              </a:lnSpc>
            </a:pPr>
            <a:r>
              <a:rPr lang="en-US" sz="3012" spc="135" b="tru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 7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2077263"/>
            <a:ext cx="2596372" cy="2638983"/>
          </a:xfrm>
          <a:custGeom>
            <a:avLst/>
            <a:gdLst/>
            <a:ahLst/>
            <a:cxnLst/>
            <a:rect r="r" b="b" t="t" l="l"/>
            <a:pathLst>
              <a:path h="2638983" w="2596372">
                <a:moveTo>
                  <a:pt x="0" y="0"/>
                </a:moveTo>
                <a:lnTo>
                  <a:pt x="2596372" y="0"/>
                </a:lnTo>
                <a:lnTo>
                  <a:pt x="2596372" y="2638983"/>
                </a:lnTo>
                <a:lnTo>
                  <a:pt x="0" y="26389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5476" t="-27828" r="-59121" b="-9314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231041">
            <a:off x="13216914" y="-2949524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468074">
            <a:off x="13918097" y="4882637"/>
            <a:ext cx="8739806" cy="5324588"/>
            <a:chOff x="0" y="0"/>
            <a:chExt cx="2301842" cy="14023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1842" cy="1402361"/>
            </a:xfrm>
            <a:custGeom>
              <a:avLst/>
              <a:gdLst/>
              <a:ahLst/>
              <a:cxnLst/>
              <a:rect r="r" b="b" t="t" l="l"/>
              <a:pathLst>
                <a:path h="1402361" w="2301842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3044550" y="7788717"/>
            <a:ext cx="5867617" cy="5867617"/>
          </a:xfrm>
          <a:custGeom>
            <a:avLst/>
            <a:gdLst/>
            <a:ahLst/>
            <a:cxnLst/>
            <a:rect r="r" b="b" t="t" l="l"/>
            <a:pathLst>
              <a:path h="5867617" w="5867617">
                <a:moveTo>
                  <a:pt x="0" y="0"/>
                </a:moveTo>
                <a:lnTo>
                  <a:pt x="5867617" y="0"/>
                </a:lnTo>
                <a:lnTo>
                  <a:pt x="5867617" y="5867617"/>
                </a:lnTo>
                <a:lnTo>
                  <a:pt x="0" y="58676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901222" y="2978102"/>
            <a:ext cx="7886617" cy="571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Contexto y problema de negocio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Objetivos y preguntas analíticas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Datos utilizados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Modelo DW / Multidimensional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Preparación de datos / ETL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Dashboards e insights</a:t>
            </a:r>
          </a:p>
          <a:p>
            <a:pPr algn="l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Conclusiones y decisiones </a:t>
            </a:r>
          </a:p>
          <a:p>
            <a:pPr algn="l" marL="0" indent="0" lvl="0">
              <a:lnSpc>
                <a:spcPts val="5770"/>
              </a:lnSpc>
            </a:pPr>
            <a:r>
              <a:rPr lang="en-US" sz="2899" spc="13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TP4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91204" y="1960910"/>
            <a:ext cx="6276020" cy="107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7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75542" y="2978246"/>
            <a:ext cx="536972" cy="570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  <a:p>
            <a:pPr algn="l">
              <a:lnSpc>
                <a:spcPts val="5770"/>
              </a:lnSpc>
            </a:pPr>
            <a:r>
              <a:rPr lang="en-US" sz="2899" spc="130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  <a:p>
            <a:pPr algn="l" marL="0" indent="0" lvl="0">
              <a:lnSpc>
                <a:spcPts val="5770"/>
              </a:lnSpc>
            </a:pPr>
            <a:r>
              <a:rPr lang="en-US" b="true" sz="2899" spc="130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4501172" y="3187796"/>
            <a:ext cx="0" cy="5500244"/>
          </a:xfrm>
          <a:prstGeom prst="line">
            <a:avLst/>
          </a:prstGeom>
          <a:ln cap="flat" w="38100">
            <a:solidFill>
              <a:srgbClr val="052A4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-2566985">
            <a:off x="13475041" y="-3966816"/>
            <a:ext cx="4266123" cy="11607062"/>
            <a:chOff x="0" y="0"/>
            <a:chExt cx="1123588" cy="30570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3588" cy="3057004"/>
            </a:xfrm>
            <a:custGeom>
              <a:avLst/>
              <a:gdLst/>
              <a:ahLst/>
              <a:cxnLst/>
              <a:rect r="r" b="b" t="t" l="l"/>
              <a:pathLst>
                <a:path h="3057004" w="1123588">
                  <a:moveTo>
                    <a:pt x="0" y="0"/>
                  </a:moveTo>
                  <a:lnTo>
                    <a:pt x="1123588" y="0"/>
                  </a:lnTo>
                  <a:lnTo>
                    <a:pt x="1123588" y="3057004"/>
                  </a:lnTo>
                  <a:lnTo>
                    <a:pt x="0" y="3057004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23588" cy="310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2468074">
            <a:off x="15234510" y="5842806"/>
            <a:ext cx="6211278" cy="4873542"/>
            <a:chOff x="0" y="0"/>
            <a:chExt cx="1635892" cy="12835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5892" cy="1283567"/>
            </a:xfrm>
            <a:custGeom>
              <a:avLst/>
              <a:gdLst/>
              <a:ahLst/>
              <a:cxnLst/>
              <a:rect r="r" b="b" t="t" l="l"/>
              <a:pathLst>
                <a:path h="1283567" w="1635892">
                  <a:moveTo>
                    <a:pt x="0" y="0"/>
                  </a:moveTo>
                  <a:lnTo>
                    <a:pt x="1635892" y="0"/>
                  </a:lnTo>
                  <a:lnTo>
                    <a:pt x="1635892" y="1283567"/>
                  </a:lnTo>
                  <a:lnTo>
                    <a:pt x="0" y="1283567"/>
                  </a:lnTo>
                  <a:close/>
                </a:path>
              </a:pathLst>
            </a:custGeom>
            <a:ln w="38100" cap="sq">
              <a:solidFill>
                <a:srgbClr val="80D12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35892" cy="133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2566985">
            <a:off x="15891107" y="-6368247"/>
            <a:ext cx="4266123" cy="11607062"/>
            <a:chOff x="0" y="0"/>
            <a:chExt cx="1123588" cy="30570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3588" cy="3057004"/>
            </a:xfrm>
            <a:custGeom>
              <a:avLst/>
              <a:gdLst/>
              <a:ahLst/>
              <a:cxnLst/>
              <a:rect r="r" b="b" t="t" l="l"/>
              <a:pathLst>
                <a:path h="3057004" w="1123588">
                  <a:moveTo>
                    <a:pt x="0" y="0"/>
                  </a:moveTo>
                  <a:lnTo>
                    <a:pt x="1123588" y="0"/>
                  </a:lnTo>
                  <a:lnTo>
                    <a:pt x="1123588" y="3057004"/>
                  </a:lnTo>
                  <a:lnTo>
                    <a:pt x="0" y="3057004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23588" cy="3104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47894" y="-634385"/>
            <a:ext cx="7897535" cy="11555770"/>
            <a:chOff x="0" y="0"/>
            <a:chExt cx="4339767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39767" cy="6350000"/>
            </a:xfrm>
            <a:custGeom>
              <a:avLst/>
              <a:gdLst/>
              <a:ahLst/>
              <a:cxnLst/>
              <a:rect r="r" b="b" t="t" l="l"/>
              <a:pathLst>
                <a:path h="6350000" w="4339767">
                  <a:moveTo>
                    <a:pt x="4339767" y="0"/>
                  </a:moveTo>
                  <a:lnTo>
                    <a:pt x="2778137" y="6350000"/>
                  </a:lnTo>
                  <a:lnTo>
                    <a:pt x="0" y="6350000"/>
                  </a:lnTo>
                  <a:lnTo>
                    <a:pt x="1543452" y="0"/>
                  </a:lnTo>
                  <a:lnTo>
                    <a:pt x="4339767" y="0"/>
                  </a:lnTo>
                  <a:close/>
                </a:path>
              </a:pathLst>
            </a:custGeom>
            <a:blipFill>
              <a:blip r:embed="rId4"/>
              <a:stretch>
                <a:fillRect l="-28939" t="0" r="-710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47803" y="485683"/>
            <a:ext cx="11004791" cy="21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6"/>
              </a:lnSpc>
              <a:spcBef>
                <a:spcPct val="0"/>
              </a:spcBef>
            </a:pPr>
            <a:r>
              <a:rPr lang="en-US" b="true" sz="7080" spc="2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Contexto y problema del negocio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47803" y="2956321"/>
            <a:ext cx="5704189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  <a:r>
              <a:rPr lang="en-US" b="true" sz="3499" spc="157" u="sng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Compañía de seguros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47803" y="3861470"/>
            <a:ext cx="8739597" cy="201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40"/>
              </a:lnSpc>
              <a:spcBef>
                <a:spcPct val="0"/>
              </a:spcBef>
            </a:pPr>
            <a:r>
              <a:rPr lang="en-US" sz="2885" spc="12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Tipos de seguros que ofrece: </a:t>
            </a:r>
          </a:p>
          <a:p>
            <a:pPr algn="l" marL="623034" indent="-311517" lvl="1">
              <a:lnSpc>
                <a:spcPts val="4040"/>
              </a:lnSpc>
              <a:buFont typeface="Arial"/>
              <a:buChar char="•"/>
            </a:pPr>
            <a:r>
              <a:rPr lang="en-US" sz="2885" spc="12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885" spc="12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eguro de automóv</a:t>
            </a:r>
            <a:r>
              <a:rPr lang="en-US" sz="2885" spc="12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il</a:t>
            </a:r>
          </a:p>
          <a:p>
            <a:pPr algn="l" marL="623034" indent="-311517" lvl="1">
              <a:lnSpc>
                <a:spcPts val="4040"/>
              </a:lnSpc>
              <a:buFont typeface="Arial"/>
              <a:buChar char="•"/>
            </a:pPr>
            <a:r>
              <a:rPr lang="en-US" sz="2885" spc="12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Seguro de vida</a:t>
            </a:r>
          </a:p>
          <a:p>
            <a:pPr algn="l" marL="623034" indent="-311517" lvl="1">
              <a:lnSpc>
                <a:spcPts val="4040"/>
              </a:lnSpc>
              <a:buFont typeface="Arial"/>
              <a:buChar char="•"/>
            </a:pPr>
            <a:r>
              <a:rPr lang="en-US" sz="2885" spc="12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Seguro del hogar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47803" y="6338382"/>
            <a:ext cx="10663218" cy="291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36"/>
              </a:lnSpc>
              <a:spcBef>
                <a:spcPct val="0"/>
              </a:spcBef>
            </a:pPr>
            <a:r>
              <a:rPr lang="en-US" b="true" sz="2811" spc="126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811" spc="126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quieren analizar:</a:t>
            </a:r>
          </a:p>
          <a:p>
            <a:pPr algn="l" marL="607045" indent="-303522" lvl="1">
              <a:lnSpc>
                <a:spcPts val="3936"/>
              </a:lnSpc>
              <a:buFont typeface="Arial"/>
              <a:buChar char="•"/>
            </a:pPr>
            <a:r>
              <a:rPr lang="en-US" sz="2811" spc="12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en-US" sz="2811" spc="12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ué seguros son los que más beneficios aportan</a:t>
            </a:r>
          </a:p>
          <a:p>
            <a:pPr algn="l" marL="607045" indent="-303522" lvl="1">
              <a:lnSpc>
                <a:spcPts val="3936"/>
              </a:lnSpc>
              <a:buFont typeface="Arial"/>
              <a:buChar char="•"/>
            </a:pPr>
            <a:r>
              <a:rPr lang="en-US" sz="2811" spc="12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811" spc="12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erfiles de los compradores</a:t>
            </a:r>
          </a:p>
          <a:p>
            <a:pPr algn="l" marL="607045" indent="-303522" lvl="1">
              <a:lnSpc>
                <a:spcPts val="3936"/>
              </a:lnSpc>
              <a:buFont typeface="Arial"/>
              <a:buChar char="•"/>
            </a:pPr>
            <a:r>
              <a:rPr lang="en-US" sz="2811" spc="12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Eficiencia de los vendedores de seguros</a:t>
            </a:r>
          </a:p>
          <a:p>
            <a:pPr algn="l" marL="607045" indent="-303522" lvl="1">
              <a:lnSpc>
                <a:spcPts val="3936"/>
              </a:lnSpc>
              <a:buFont typeface="Arial"/>
              <a:buChar char="•"/>
            </a:pPr>
            <a:r>
              <a:rPr lang="en-US" sz="2811" spc="12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Sucesos más frecuentes</a:t>
            </a:r>
          </a:p>
          <a:p>
            <a:pPr algn="l" marL="607045" indent="-303522" lvl="1">
              <a:lnSpc>
                <a:spcPts val="3936"/>
              </a:lnSpc>
              <a:buFont typeface="Arial"/>
              <a:buChar char="•"/>
            </a:pPr>
            <a:r>
              <a:rPr lang="en-US" sz="2811" spc="12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Eficiencia de los peritos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280917" cy="10287000"/>
            <a:chOff x="0" y="0"/>
            <a:chExt cx="617987" cy="27871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7987" cy="2787141"/>
            </a:xfrm>
            <a:custGeom>
              <a:avLst/>
              <a:gdLst/>
              <a:ahLst/>
              <a:cxnLst/>
              <a:rect r="r" b="b" t="t" l="l"/>
              <a:pathLst>
                <a:path h="2787141" w="617987">
                  <a:moveTo>
                    <a:pt x="0" y="0"/>
                  </a:moveTo>
                  <a:lnTo>
                    <a:pt x="617987" y="0"/>
                  </a:lnTo>
                  <a:lnTo>
                    <a:pt x="617987" y="2787141"/>
                  </a:lnTo>
                  <a:lnTo>
                    <a:pt x="0" y="2787141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17987" cy="28347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80917" y="5143500"/>
            <a:ext cx="11040743" cy="2194965"/>
            <a:chOff x="0" y="0"/>
            <a:chExt cx="1349400" cy="2682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9400" cy="268269"/>
            </a:xfrm>
            <a:custGeom>
              <a:avLst/>
              <a:gdLst/>
              <a:ahLst/>
              <a:cxnLst/>
              <a:rect r="r" b="b" t="t" l="l"/>
              <a:pathLst>
                <a:path h="268269" w="1349400">
                  <a:moveTo>
                    <a:pt x="1146200" y="0"/>
                  </a:moveTo>
                  <a:lnTo>
                    <a:pt x="0" y="0"/>
                  </a:lnTo>
                  <a:lnTo>
                    <a:pt x="0" y="268269"/>
                  </a:lnTo>
                  <a:lnTo>
                    <a:pt x="1146200" y="268269"/>
                  </a:lnTo>
                  <a:lnTo>
                    <a:pt x="1349400" y="134134"/>
                  </a:lnTo>
                  <a:lnTo>
                    <a:pt x="1146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235100" cy="315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94580" y="4757164"/>
            <a:ext cx="772673" cy="77267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80917" y="1774476"/>
            <a:ext cx="9104320" cy="1367718"/>
            <a:chOff x="0" y="0"/>
            <a:chExt cx="5164484" cy="7758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64484" cy="775847"/>
            </a:xfrm>
            <a:custGeom>
              <a:avLst/>
              <a:gdLst/>
              <a:ahLst/>
              <a:cxnLst/>
              <a:rect r="r" b="b" t="t" l="l"/>
              <a:pathLst>
                <a:path h="775847" w="5164484">
                  <a:moveTo>
                    <a:pt x="4961284" y="0"/>
                  </a:moveTo>
                  <a:lnTo>
                    <a:pt x="0" y="0"/>
                  </a:lnTo>
                  <a:lnTo>
                    <a:pt x="0" y="775847"/>
                  </a:lnTo>
                  <a:lnTo>
                    <a:pt x="4961284" y="775847"/>
                  </a:lnTo>
                  <a:lnTo>
                    <a:pt x="5164484" y="387923"/>
                  </a:lnTo>
                  <a:lnTo>
                    <a:pt x="4961284" y="0"/>
                  </a:lnTo>
                  <a:close/>
                </a:path>
              </a:pathLst>
            </a:custGeom>
            <a:solidFill>
              <a:srgbClr val="4DBF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050184" cy="823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40486" y="1991610"/>
            <a:ext cx="967939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369"/>
              </a:lnSpc>
              <a:spcBef>
                <a:spcPct val="0"/>
              </a:spcBef>
            </a:pPr>
            <a:r>
              <a:rPr lang="en-US" b="true" sz="6141" spc="221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principal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60856" y="5509462"/>
            <a:ext cx="7970938" cy="136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3899" spc="175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Optimiza</a:t>
            </a:r>
            <a:r>
              <a:rPr lang="en-US" b="true" sz="3899" spc="175" strike="noStrike" u="none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r la rentabilidad y la gestión operativa en un 25 %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64292" y="1774476"/>
            <a:ext cx="441890" cy="1367718"/>
            <a:chOff x="0" y="0"/>
            <a:chExt cx="847440" cy="2622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7471" cy="2622931"/>
            </a:xfrm>
            <a:custGeom>
              <a:avLst/>
              <a:gdLst/>
              <a:ahLst/>
              <a:cxnLst/>
              <a:rect r="r" b="b" t="t" l="l"/>
              <a:pathLst>
                <a:path h="2622931" w="847471">
                  <a:moveTo>
                    <a:pt x="243205" y="2622931"/>
                  </a:moveTo>
                  <a:lnTo>
                    <a:pt x="0" y="2622931"/>
                  </a:lnTo>
                  <a:lnTo>
                    <a:pt x="596646" y="1315339"/>
                  </a:lnTo>
                  <a:lnTo>
                    <a:pt x="0" y="0"/>
                  </a:lnTo>
                  <a:lnTo>
                    <a:pt x="243205" y="0"/>
                  </a:lnTo>
                  <a:lnTo>
                    <a:pt x="847471" y="1315339"/>
                  </a:lnTo>
                  <a:lnTo>
                    <a:pt x="243205" y="2622931"/>
                  </a:lnTo>
                  <a:close/>
                </a:path>
              </a:pathLst>
            </a:custGeom>
            <a:solidFill>
              <a:srgbClr val="80D12A"/>
            </a:solid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978476">
            <a:off x="10466047" y="-820926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62443" y="-359883"/>
            <a:ext cx="9607786" cy="11487702"/>
            <a:chOff x="0" y="0"/>
            <a:chExt cx="8603361" cy="102867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solidFill>
              <a:srgbClr val="052A47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348934" y="-1102833"/>
            <a:ext cx="9607786" cy="11487702"/>
            <a:chOff x="0" y="0"/>
            <a:chExt cx="8603361" cy="102867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4">
                <a:alphaModFix amt="88000"/>
              </a:blip>
              <a:stretch>
                <a:fillRect l="0" t="-8037" r="-112664" b="-10463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02669" y="625584"/>
            <a:ext cx="8637689" cy="80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392"/>
              </a:lnSpc>
              <a:spcBef>
                <a:spcPct val="0"/>
              </a:spcBef>
            </a:pPr>
            <a:r>
              <a:rPr lang="en-US" b="true" sz="5327" spc="19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Sub-Objetivos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76618"/>
            <a:ext cx="173089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00"/>
              </a:lnSpc>
              <a:spcBef>
                <a:spcPct val="0"/>
              </a:spcBef>
            </a:pPr>
            <a:r>
              <a:rPr lang="en-US" b="true" sz="9750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840918"/>
            <a:ext cx="173089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00"/>
              </a:lnSpc>
              <a:spcBef>
                <a:spcPct val="0"/>
              </a:spcBef>
            </a:pPr>
            <a:r>
              <a:rPr lang="en-US" b="true" sz="9750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805219"/>
            <a:ext cx="173089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00"/>
              </a:lnSpc>
              <a:spcBef>
                <a:spcPct val="0"/>
              </a:spcBef>
            </a:pPr>
            <a:r>
              <a:rPr lang="en-US" b="true" sz="9750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8804" y="2234493"/>
            <a:ext cx="6901554" cy="96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  <a:spcBef>
                <a:spcPct val="0"/>
              </a:spcBef>
            </a:pPr>
            <a:r>
              <a:rPr lang="en-US" b="true" sz="2832" spc="6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Analizar rentabilidad por tipo de seguro (primas vs. siniestros).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38804" y="4385502"/>
            <a:ext cx="6901554" cy="47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  <a:spcBef>
                <a:spcPct val="0"/>
              </a:spcBef>
            </a:pPr>
            <a:r>
              <a:rPr lang="en-US" b="true" sz="2832" spc="6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Evaluar riesgo por perfil de cliente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38804" y="6041212"/>
            <a:ext cx="6901554" cy="96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  <a:spcBef>
                <a:spcPct val="0"/>
              </a:spcBef>
            </a:pPr>
            <a:r>
              <a:rPr lang="en-US" b="true" sz="2832" spc="6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Analizar frecuencia y costo de siniestros por región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-4944330" y="-6134429"/>
            <a:ext cx="6449593" cy="9554097"/>
            <a:chOff x="0" y="0"/>
            <a:chExt cx="812800" cy="12040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1204040"/>
            </a:xfrm>
            <a:custGeom>
              <a:avLst/>
              <a:gdLst/>
              <a:ahLst/>
              <a:cxnLst/>
              <a:rect r="r" b="b" t="t" l="l"/>
              <a:pathLst>
                <a:path h="120404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602020"/>
                  </a:lnTo>
                  <a:lnTo>
                    <a:pt x="609600" y="1204040"/>
                  </a:lnTo>
                  <a:lnTo>
                    <a:pt x="0" y="1204040"/>
                  </a:lnTo>
                  <a:lnTo>
                    <a:pt x="203200" y="602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47625"/>
              <a:ext cx="558800" cy="1251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7834044"/>
            <a:ext cx="1730895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00"/>
              </a:lnSpc>
              <a:spcBef>
                <a:spcPct val="0"/>
              </a:spcBef>
            </a:pPr>
            <a:r>
              <a:rPr lang="en-US" b="true" sz="9750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38804" y="7858354"/>
            <a:ext cx="6901554" cy="146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4"/>
              </a:lnSpc>
              <a:spcBef>
                <a:spcPct val="0"/>
              </a:spcBef>
            </a:pPr>
            <a:r>
              <a:rPr lang="en-US" b="true" sz="2832" spc="6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Medir y comparar el desempeño individual de agentes de venta y peritos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0028" y="9258300"/>
            <a:ext cx="19917660" cy="3086100"/>
            <a:chOff x="0" y="0"/>
            <a:chExt cx="524580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733509" y="-1612398"/>
            <a:ext cx="6449593" cy="3224796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0204" y="2506531"/>
            <a:ext cx="4343074" cy="6335382"/>
          </a:xfrm>
          <a:custGeom>
            <a:avLst/>
            <a:gdLst/>
            <a:ahLst/>
            <a:cxnLst/>
            <a:rect r="r" b="b" t="t" l="l"/>
            <a:pathLst>
              <a:path h="6335382" w="4343074">
                <a:moveTo>
                  <a:pt x="0" y="0"/>
                </a:moveTo>
                <a:lnTo>
                  <a:pt x="4343074" y="0"/>
                </a:lnTo>
                <a:lnTo>
                  <a:pt x="4343074" y="6335382"/>
                </a:lnTo>
                <a:lnTo>
                  <a:pt x="0" y="6335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09" t="-33415" r="-264861" b="-3652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87703" y="1023329"/>
            <a:ext cx="6912593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46"/>
              </a:lnSpc>
              <a:spcBef>
                <a:spcPct val="0"/>
              </a:spcBef>
            </a:pPr>
            <a:r>
              <a:rPr lang="en-US" b="true" sz="5872" spc="21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Datos utilizados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31704" y="3195439"/>
            <a:ext cx="10435514" cy="740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Inconsistencias geográficas y registros fuera del país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Edades imposibles o futuras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Violación de la jerarquía financiera en los hechos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Incoherencia temporal en el ciclo de los siniestros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Heterogeneidad extrema, valores basura e IDs duplicados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5431669" y="3243064"/>
            <a:ext cx="512068" cy="51206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31669" y="4193282"/>
            <a:ext cx="512068" cy="51206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431669" y="5143500"/>
            <a:ext cx="512068" cy="51206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431669" y="6093718"/>
            <a:ext cx="512068" cy="51206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31669" y="7146959"/>
            <a:ext cx="512068" cy="51206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0D12A"/>
            </a:solidFill>
            <a:ln w="38100" cap="sq">
              <a:solidFill>
                <a:srgbClr val="052A47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08079" y="9326673"/>
            <a:ext cx="7734963" cy="6698478"/>
            <a:chOff x="0" y="0"/>
            <a:chExt cx="6350000" cy="549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5499100"/>
            </a:xfrm>
            <a:custGeom>
              <a:avLst/>
              <a:gdLst/>
              <a:ahLst/>
              <a:cxnLst/>
              <a:rect r="r" b="b" t="t" l="l"/>
              <a:pathLst>
                <a:path h="5499100" w="6350000">
                  <a:moveTo>
                    <a:pt x="4762500" y="2749550"/>
                  </a:moveTo>
                  <a:lnTo>
                    <a:pt x="3175000" y="0"/>
                  </a:lnTo>
                  <a:lnTo>
                    <a:pt x="1587500" y="2749550"/>
                  </a:lnTo>
                  <a:lnTo>
                    <a:pt x="0" y="5499100"/>
                  </a:lnTo>
                  <a:lnTo>
                    <a:pt x="6350000" y="5499100"/>
                  </a:lnTo>
                  <a:close/>
                </a:path>
              </a:pathLst>
            </a:custGeom>
            <a:blipFill>
              <a:blip r:embed="rId2"/>
              <a:stretch>
                <a:fillRect l="-61110" t="0" r="-6111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71282" y="-754234"/>
            <a:ext cx="12653343" cy="5897734"/>
          </a:xfrm>
          <a:custGeom>
            <a:avLst/>
            <a:gdLst/>
            <a:ahLst/>
            <a:cxnLst/>
            <a:rect r="r" b="b" t="t" l="l"/>
            <a:pathLst>
              <a:path h="5897734" w="12653343">
                <a:moveTo>
                  <a:pt x="0" y="0"/>
                </a:moveTo>
                <a:lnTo>
                  <a:pt x="12653343" y="0"/>
                </a:lnTo>
                <a:lnTo>
                  <a:pt x="12653343" y="5897734"/>
                </a:lnTo>
                <a:lnTo>
                  <a:pt x="0" y="5897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14545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-3080673" y="7603013"/>
            <a:ext cx="7102699" cy="3310574"/>
          </a:xfrm>
          <a:custGeom>
            <a:avLst/>
            <a:gdLst/>
            <a:ahLst/>
            <a:cxnLst/>
            <a:rect r="r" b="b" t="t" l="l"/>
            <a:pathLst>
              <a:path h="3310574" w="7102699">
                <a:moveTo>
                  <a:pt x="0" y="0"/>
                </a:moveTo>
                <a:lnTo>
                  <a:pt x="7102699" y="0"/>
                </a:lnTo>
                <a:lnTo>
                  <a:pt x="7102699" y="3310574"/>
                </a:lnTo>
                <a:lnTo>
                  <a:pt x="0" y="33105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4545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783213" y="1509731"/>
            <a:ext cx="16721574" cy="8272610"/>
          </a:xfrm>
          <a:custGeom>
            <a:avLst/>
            <a:gdLst/>
            <a:ahLst/>
            <a:cxnLst/>
            <a:rect r="r" b="b" t="t" l="l"/>
            <a:pathLst>
              <a:path h="8272610" w="16721574">
                <a:moveTo>
                  <a:pt x="0" y="0"/>
                </a:moveTo>
                <a:lnTo>
                  <a:pt x="16721574" y="0"/>
                </a:lnTo>
                <a:lnTo>
                  <a:pt x="16721574" y="8272609"/>
                </a:lnTo>
                <a:lnTo>
                  <a:pt x="0" y="82726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59746" y="538144"/>
            <a:ext cx="7968507" cy="97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15"/>
              </a:lnSpc>
              <a:spcBef>
                <a:spcPct val="0"/>
              </a:spcBef>
            </a:pPr>
            <a:r>
              <a:rPr lang="en-US" b="true" sz="6346" spc="22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90934" y="-2057400"/>
            <a:ext cx="19917660" cy="3086100"/>
            <a:chOff x="0" y="0"/>
            <a:chExt cx="524580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0028" y="9258300"/>
            <a:ext cx="19917660" cy="3086100"/>
            <a:chOff x="0" y="0"/>
            <a:chExt cx="524580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45803" cy="812800"/>
            </a:xfrm>
            <a:custGeom>
              <a:avLst/>
              <a:gdLst/>
              <a:ahLst/>
              <a:cxnLst/>
              <a:rect r="r" b="b" t="t" l="l"/>
              <a:pathLst>
                <a:path h="812800" w="5245803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733509" y="-1612398"/>
            <a:ext cx="6449593" cy="3224796"/>
            <a:chOff x="0" y="0"/>
            <a:chExt cx="8128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495234" y="1603032"/>
            <a:ext cx="13297532" cy="7080936"/>
          </a:xfrm>
          <a:custGeom>
            <a:avLst/>
            <a:gdLst/>
            <a:ahLst/>
            <a:cxnLst/>
            <a:rect r="r" b="b" t="t" l="l"/>
            <a:pathLst>
              <a:path h="7080936" w="13297532">
                <a:moveTo>
                  <a:pt x="0" y="0"/>
                </a:moveTo>
                <a:lnTo>
                  <a:pt x="13297532" y="0"/>
                </a:lnTo>
                <a:lnTo>
                  <a:pt x="13297532" y="7080936"/>
                </a:lnTo>
                <a:lnTo>
                  <a:pt x="0" y="708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0041"/>
            <a:chOff x="0" y="0"/>
            <a:chExt cx="4816593" cy="484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4620"/>
            </a:xfrm>
            <a:custGeom>
              <a:avLst/>
              <a:gdLst/>
              <a:ahLst/>
              <a:cxnLst/>
              <a:rect r="r" b="b" t="t" l="l"/>
              <a:pathLst>
                <a:path h="48462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4620"/>
                  </a:lnTo>
                  <a:lnTo>
                    <a:pt x="0" y="484620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3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68942" y="3043246"/>
            <a:ext cx="16550115" cy="4983068"/>
          </a:xfrm>
          <a:custGeom>
            <a:avLst/>
            <a:gdLst/>
            <a:ahLst/>
            <a:cxnLst/>
            <a:rect r="r" b="b" t="t" l="l"/>
            <a:pathLst>
              <a:path h="4983068" w="16550115">
                <a:moveTo>
                  <a:pt x="0" y="0"/>
                </a:moveTo>
                <a:lnTo>
                  <a:pt x="16550116" y="0"/>
                </a:lnTo>
                <a:lnTo>
                  <a:pt x="16550116" y="4983068"/>
                </a:lnTo>
                <a:lnTo>
                  <a:pt x="0" y="4983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9819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2655" y="514332"/>
            <a:ext cx="15462689" cy="101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10"/>
              </a:lnSpc>
              <a:spcBef>
                <a:spcPct val="0"/>
              </a:spcBef>
            </a:pPr>
            <a:r>
              <a:rPr lang="en-US" b="true" sz="6675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- Arquitectura del pipeline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0041"/>
            <a:chOff x="0" y="0"/>
            <a:chExt cx="4816593" cy="484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4620"/>
            </a:xfrm>
            <a:custGeom>
              <a:avLst/>
              <a:gdLst/>
              <a:ahLst/>
              <a:cxnLst/>
              <a:rect r="r" b="b" t="t" l="l"/>
              <a:pathLst>
                <a:path h="48462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4620"/>
                  </a:lnTo>
                  <a:lnTo>
                    <a:pt x="0" y="484620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3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88734" y="1840041"/>
            <a:ext cx="11910532" cy="8446959"/>
          </a:xfrm>
          <a:custGeom>
            <a:avLst/>
            <a:gdLst/>
            <a:ahLst/>
            <a:cxnLst/>
            <a:rect r="r" b="b" t="t" l="l"/>
            <a:pathLst>
              <a:path h="8446959" w="11910532">
                <a:moveTo>
                  <a:pt x="0" y="0"/>
                </a:moveTo>
                <a:lnTo>
                  <a:pt x="11910532" y="0"/>
                </a:lnTo>
                <a:lnTo>
                  <a:pt x="11910532" y="8446959"/>
                </a:lnTo>
                <a:lnTo>
                  <a:pt x="0" y="844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2655" y="514332"/>
            <a:ext cx="15462689" cy="101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10"/>
              </a:lnSpc>
              <a:spcBef>
                <a:spcPct val="0"/>
              </a:spcBef>
            </a:pPr>
            <a:r>
              <a:rPr lang="en-US" b="true" sz="6675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- Arquitectura del pipeline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0041"/>
            <a:chOff x="0" y="0"/>
            <a:chExt cx="4816593" cy="484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4620"/>
            </a:xfrm>
            <a:custGeom>
              <a:avLst/>
              <a:gdLst/>
              <a:ahLst/>
              <a:cxnLst/>
              <a:rect r="r" b="b" t="t" l="l"/>
              <a:pathLst>
                <a:path h="48462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4620"/>
                  </a:lnTo>
                  <a:lnTo>
                    <a:pt x="0" y="484620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3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0999" y="2344175"/>
            <a:ext cx="16066002" cy="7341199"/>
          </a:xfrm>
          <a:custGeom>
            <a:avLst/>
            <a:gdLst/>
            <a:ahLst/>
            <a:cxnLst/>
            <a:rect r="r" b="b" t="t" l="l"/>
            <a:pathLst>
              <a:path h="7341199" w="16066002">
                <a:moveTo>
                  <a:pt x="0" y="0"/>
                </a:moveTo>
                <a:lnTo>
                  <a:pt x="16066002" y="0"/>
                </a:lnTo>
                <a:lnTo>
                  <a:pt x="16066002" y="7341199"/>
                </a:lnTo>
                <a:lnTo>
                  <a:pt x="0" y="7341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" t="-228569" r="-4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2655" y="514332"/>
            <a:ext cx="15462689" cy="101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10"/>
              </a:lnSpc>
              <a:spcBef>
                <a:spcPct val="0"/>
              </a:spcBef>
            </a:pPr>
            <a:r>
              <a:rPr lang="en-US" b="true" sz="6675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ETL - Arquitectura del pipeline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0041"/>
            <a:chOff x="0" y="0"/>
            <a:chExt cx="4816593" cy="484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4620"/>
            </a:xfrm>
            <a:custGeom>
              <a:avLst/>
              <a:gdLst/>
              <a:ahLst/>
              <a:cxnLst/>
              <a:rect r="r" b="b" t="t" l="l"/>
              <a:pathLst>
                <a:path h="48462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4620"/>
                  </a:lnTo>
                  <a:lnTo>
                    <a:pt x="0" y="484620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3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6703" y="3016355"/>
            <a:ext cx="17314594" cy="5554013"/>
          </a:xfrm>
          <a:custGeom>
            <a:avLst/>
            <a:gdLst/>
            <a:ahLst/>
            <a:cxnLst/>
            <a:rect r="r" b="b" t="t" l="l"/>
            <a:pathLst>
              <a:path h="5554013" w="17314594">
                <a:moveTo>
                  <a:pt x="0" y="0"/>
                </a:moveTo>
                <a:lnTo>
                  <a:pt x="17314594" y="0"/>
                </a:lnTo>
                <a:lnTo>
                  <a:pt x="17314594" y="5554012"/>
                </a:lnTo>
                <a:lnTo>
                  <a:pt x="0" y="5554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78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5085" y="19014"/>
            <a:ext cx="15217829" cy="182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4"/>
              </a:lnSpc>
              <a:spcBef>
                <a:spcPct val="0"/>
              </a:spcBef>
            </a:pPr>
            <a:r>
              <a:rPr lang="en-US" b="true" sz="6020" spc="216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Problemas encontrados y cómo se resolvieron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40041"/>
            <a:chOff x="0" y="0"/>
            <a:chExt cx="4816593" cy="484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484620"/>
            </a:xfrm>
            <a:custGeom>
              <a:avLst/>
              <a:gdLst/>
              <a:ahLst/>
              <a:cxnLst/>
              <a:rect r="r" b="b" t="t" l="l"/>
              <a:pathLst>
                <a:path h="48462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4620"/>
                  </a:lnTo>
                  <a:lnTo>
                    <a:pt x="0" y="484620"/>
                  </a:lnTo>
                  <a:close/>
                </a:path>
              </a:pathLst>
            </a:custGeom>
            <a:solidFill>
              <a:srgbClr val="052A47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5322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6703" y="2870628"/>
            <a:ext cx="17314594" cy="5967560"/>
          </a:xfrm>
          <a:custGeom>
            <a:avLst/>
            <a:gdLst/>
            <a:ahLst/>
            <a:cxnLst/>
            <a:rect r="r" b="b" t="t" l="l"/>
            <a:pathLst>
              <a:path h="5967560" w="17314594">
                <a:moveTo>
                  <a:pt x="0" y="0"/>
                </a:moveTo>
                <a:lnTo>
                  <a:pt x="17314594" y="0"/>
                </a:lnTo>
                <a:lnTo>
                  <a:pt x="17314594" y="5967560"/>
                </a:lnTo>
                <a:lnTo>
                  <a:pt x="0" y="5967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6" t="-93958" r="-136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5085" y="19014"/>
            <a:ext cx="15217829" cy="182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24"/>
              </a:lnSpc>
              <a:spcBef>
                <a:spcPct val="0"/>
              </a:spcBef>
            </a:pPr>
            <a:r>
              <a:rPr lang="en-US" b="true" sz="6020" spc="216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Problemas encontrados y cómo se resolvieron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27194" y="2728146"/>
            <a:ext cx="12233611" cy="5526217"/>
          </a:xfrm>
          <a:custGeom>
            <a:avLst/>
            <a:gdLst/>
            <a:ahLst/>
            <a:cxnLst/>
            <a:rect r="r" b="b" t="t" l="l"/>
            <a:pathLst>
              <a:path h="5526217" w="12233611">
                <a:moveTo>
                  <a:pt x="0" y="0"/>
                </a:moveTo>
                <a:lnTo>
                  <a:pt x="12233612" y="0"/>
                </a:lnTo>
                <a:lnTo>
                  <a:pt x="12233612" y="5526218"/>
                </a:lnTo>
                <a:lnTo>
                  <a:pt x="0" y="5526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027194" y="2728146"/>
            <a:ext cx="12233611" cy="5526217"/>
          </a:xfrm>
          <a:custGeom>
            <a:avLst/>
            <a:gdLst/>
            <a:ahLst/>
            <a:cxnLst/>
            <a:rect r="r" b="b" t="t" l="l"/>
            <a:pathLst>
              <a:path h="5526217" w="12233611">
                <a:moveTo>
                  <a:pt x="0" y="0"/>
                </a:moveTo>
                <a:lnTo>
                  <a:pt x="12233612" y="0"/>
                </a:lnTo>
                <a:lnTo>
                  <a:pt x="12233612" y="5526218"/>
                </a:lnTo>
                <a:lnTo>
                  <a:pt x="0" y="5526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007800" y="9185922"/>
            <a:ext cx="1370206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Los seguros básicos representan la categoría con mayor contribución a los beneficios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40626" y="2631456"/>
            <a:ext cx="12219789" cy="5719599"/>
          </a:xfrm>
          <a:custGeom>
            <a:avLst/>
            <a:gdLst/>
            <a:ahLst/>
            <a:cxnLst/>
            <a:rect r="r" b="b" t="t" l="l"/>
            <a:pathLst>
              <a:path h="5719599" w="12219789">
                <a:moveTo>
                  <a:pt x="0" y="0"/>
                </a:moveTo>
                <a:lnTo>
                  <a:pt x="12219789" y="0"/>
                </a:lnTo>
                <a:lnTo>
                  <a:pt x="12219789" y="5719599"/>
                </a:lnTo>
                <a:lnTo>
                  <a:pt x="0" y="571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140626" y="2631456"/>
            <a:ext cx="12219789" cy="5719599"/>
          </a:xfrm>
          <a:custGeom>
            <a:avLst/>
            <a:gdLst/>
            <a:ahLst/>
            <a:cxnLst/>
            <a:rect r="r" b="b" t="t" l="l"/>
            <a:pathLst>
              <a:path h="5719599" w="12219789">
                <a:moveTo>
                  <a:pt x="0" y="0"/>
                </a:moveTo>
                <a:lnTo>
                  <a:pt x="12219789" y="0"/>
                </a:lnTo>
                <a:lnTo>
                  <a:pt x="12219789" y="5719599"/>
                </a:lnTo>
                <a:lnTo>
                  <a:pt x="0" y="571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4340288" y="9185922"/>
            <a:ext cx="11037094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B70F0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Los seguros premium generan una pérdida neta de $63,6 millones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2557690" y="2916848"/>
            <a:ext cx="12897912" cy="5148815"/>
          </a:xfrm>
          <a:custGeom>
            <a:avLst/>
            <a:gdLst/>
            <a:ahLst/>
            <a:cxnLst/>
            <a:rect r="r" b="b" t="t" l="l"/>
            <a:pathLst>
              <a:path h="5148815" w="12897912">
                <a:moveTo>
                  <a:pt x="0" y="0"/>
                </a:moveTo>
                <a:lnTo>
                  <a:pt x="12897912" y="0"/>
                </a:lnTo>
                <a:lnTo>
                  <a:pt x="12897912" y="5148815"/>
                </a:lnTo>
                <a:lnTo>
                  <a:pt x="0" y="514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70481" y="4838114"/>
            <a:ext cx="18434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2A2E3A"/>
                </a:solidFill>
                <a:latin typeface="Open Sans"/>
                <a:ea typeface="Open Sans"/>
                <a:cs typeface="Open Sans"/>
                <a:sym typeface="Open Sans"/>
              </a:rPr>
              <a:t>Tasa de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2A2E3A"/>
                </a:solidFill>
                <a:latin typeface="Open Sans"/>
                <a:ea typeface="Open Sans"/>
                <a:cs typeface="Open Sans"/>
                <a:sym typeface="Open Sans"/>
              </a:rPr>
              <a:t>Siniestralidad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8984615"/>
            <a:ext cx="1331852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 Premium genera men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os siniestros por póliza, lo que indica que </a:t>
            </a:r>
            <a:r>
              <a:rPr lang="en-US" sz="2499" u="sng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 problema de pérdida está en el monto pagado por siniestro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2557690" y="2916848"/>
            <a:ext cx="12897912" cy="5148815"/>
          </a:xfrm>
          <a:custGeom>
            <a:avLst/>
            <a:gdLst/>
            <a:ahLst/>
            <a:cxnLst/>
            <a:rect r="r" b="b" t="t" l="l"/>
            <a:pathLst>
              <a:path h="5148815" w="12897912">
                <a:moveTo>
                  <a:pt x="0" y="0"/>
                </a:moveTo>
                <a:lnTo>
                  <a:pt x="12897912" y="0"/>
                </a:lnTo>
                <a:lnTo>
                  <a:pt x="12897912" y="5148815"/>
                </a:lnTo>
                <a:lnTo>
                  <a:pt x="0" y="514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870481" y="4838114"/>
            <a:ext cx="1843445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2A2E3A"/>
                </a:solidFill>
                <a:latin typeface="Open Sans"/>
                <a:ea typeface="Open Sans"/>
                <a:cs typeface="Open Sans"/>
                <a:sym typeface="Open Sans"/>
              </a:rPr>
              <a:t>Tasa de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2A2E3A"/>
                </a:solidFill>
                <a:latin typeface="Open Sans"/>
                <a:ea typeface="Open Sans"/>
                <a:cs typeface="Open Sans"/>
                <a:sym typeface="Open Sans"/>
              </a:rPr>
              <a:t>Siniestralidad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2752662" y="2446817"/>
            <a:ext cx="12782676" cy="6088877"/>
          </a:xfrm>
          <a:custGeom>
            <a:avLst/>
            <a:gdLst/>
            <a:ahLst/>
            <a:cxnLst/>
            <a:rect r="r" b="b" t="t" l="l"/>
            <a:pathLst>
              <a:path h="6088877" w="12782676">
                <a:moveTo>
                  <a:pt x="0" y="0"/>
                </a:moveTo>
                <a:lnTo>
                  <a:pt x="12782676" y="0"/>
                </a:lnTo>
                <a:lnTo>
                  <a:pt x="12782676" y="6088877"/>
                </a:lnTo>
                <a:lnTo>
                  <a:pt x="0" y="6088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752662" y="2446817"/>
            <a:ext cx="12782676" cy="6088877"/>
          </a:xfrm>
          <a:custGeom>
            <a:avLst/>
            <a:gdLst/>
            <a:ahLst/>
            <a:cxnLst/>
            <a:rect r="r" b="b" t="t" l="l"/>
            <a:pathLst>
              <a:path h="6088877" w="12782676">
                <a:moveTo>
                  <a:pt x="0" y="0"/>
                </a:moveTo>
                <a:lnTo>
                  <a:pt x="12782676" y="0"/>
                </a:lnTo>
                <a:lnTo>
                  <a:pt x="12782676" y="6088877"/>
                </a:lnTo>
                <a:lnTo>
                  <a:pt x="0" y="60888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Slice + Roll-Up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27585" y="8984615"/>
            <a:ext cx="1331852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Los seguros premium que aseguran personas y viviendas generan pérdidas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($128.573.326 y $4.156.693)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Rentabilidad por Tipo de Seguro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581165" y="3359690"/>
            <a:ext cx="15125669" cy="3569161"/>
          </a:xfrm>
          <a:custGeom>
            <a:avLst/>
            <a:gdLst/>
            <a:ahLst/>
            <a:cxnLst/>
            <a:rect r="r" b="b" t="t" l="l"/>
            <a:pathLst>
              <a:path h="3569161" w="15125669">
                <a:moveTo>
                  <a:pt x="0" y="0"/>
                </a:moveTo>
                <a:lnTo>
                  <a:pt x="15125670" y="0"/>
                </a:lnTo>
                <a:lnTo>
                  <a:pt x="15125670" y="3569161"/>
                </a:lnTo>
                <a:lnTo>
                  <a:pt x="0" y="3569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964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Riesgo por Perfil de Cliente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27585" y="8984615"/>
            <a:ext cx="13164617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El segmento de cliente que más compra seguros premium son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Empleados de Buenos Aires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Riesgo por Perfil de Cliente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81165" y="3359690"/>
            <a:ext cx="15125669" cy="3569161"/>
          </a:xfrm>
          <a:custGeom>
            <a:avLst/>
            <a:gdLst/>
            <a:ahLst/>
            <a:cxnLst/>
            <a:rect r="r" b="b" t="t" l="l"/>
            <a:pathLst>
              <a:path h="3569161" w="15125669">
                <a:moveTo>
                  <a:pt x="0" y="0"/>
                </a:moveTo>
                <a:lnTo>
                  <a:pt x="15125670" y="0"/>
                </a:lnTo>
                <a:lnTo>
                  <a:pt x="15125670" y="3569161"/>
                </a:lnTo>
                <a:lnTo>
                  <a:pt x="0" y="3569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964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536899" y="4085059"/>
            <a:ext cx="17214202" cy="2116882"/>
          </a:xfrm>
          <a:custGeom>
            <a:avLst/>
            <a:gdLst/>
            <a:ahLst/>
            <a:cxnLst/>
            <a:rect r="r" b="b" t="t" l="l"/>
            <a:pathLst>
              <a:path h="2116882" w="17214202">
                <a:moveTo>
                  <a:pt x="0" y="0"/>
                </a:moveTo>
                <a:lnTo>
                  <a:pt x="17214202" y="0"/>
                </a:lnTo>
                <a:lnTo>
                  <a:pt x="17214202" y="2116882"/>
                </a:lnTo>
                <a:lnTo>
                  <a:pt x="0" y="2116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Riesgo por Perfil de Cliente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Dice + Drill-Down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27585" y="8984615"/>
            <a:ext cx="13164617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Los segmentos de cliente con mayor egreso por siniestro promedio son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empleados de Tucumán y Jubilados de Entre Ríos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Riesgo por Perfil de Cliente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36899" y="4085059"/>
            <a:ext cx="17214202" cy="2116882"/>
          </a:xfrm>
          <a:custGeom>
            <a:avLst/>
            <a:gdLst/>
            <a:ahLst/>
            <a:cxnLst/>
            <a:rect r="r" b="b" t="t" l="l"/>
            <a:pathLst>
              <a:path h="2116882" w="17214202">
                <a:moveTo>
                  <a:pt x="0" y="0"/>
                </a:moveTo>
                <a:lnTo>
                  <a:pt x="17214202" y="0"/>
                </a:lnTo>
                <a:lnTo>
                  <a:pt x="17214202" y="2116882"/>
                </a:lnTo>
                <a:lnTo>
                  <a:pt x="0" y="2116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08947" y="2446817"/>
            <a:ext cx="12070107" cy="6004948"/>
          </a:xfrm>
          <a:custGeom>
            <a:avLst/>
            <a:gdLst/>
            <a:ahLst/>
            <a:cxnLst/>
            <a:rect r="r" b="b" t="t" l="l"/>
            <a:pathLst>
              <a:path h="6004948" w="12070107">
                <a:moveTo>
                  <a:pt x="0" y="0"/>
                </a:moveTo>
                <a:lnTo>
                  <a:pt x="12070106" y="0"/>
                </a:lnTo>
                <a:lnTo>
                  <a:pt x="12070106" y="6004947"/>
                </a:lnTo>
                <a:lnTo>
                  <a:pt x="0" y="6004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97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agentes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108947" y="2446817"/>
            <a:ext cx="12070107" cy="6004948"/>
          </a:xfrm>
          <a:custGeom>
            <a:avLst/>
            <a:gdLst/>
            <a:ahLst/>
            <a:cxnLst/>
            <a:rect r="r" b="b" t="t" l="l"/>
            <a:pathLst>
              <a:path h="6004948" w="12070107">
                <a:moveTo>
                  <a:pt x="0" y="0"/>
                </a:moveTo>
                <a:lnTo>
                  <a:pt x="12070106" y="0"/>
                </a:lnTo>
                <a:lnTo>
                  <a:pt x="12070106" y="6004947"/>
                </a:lnTo>
                <a:lnTo>
                  <a:pt x="0" y="6004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97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324447" y="9185922"/>
            <a:ext cx="1306877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Franci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sca Duarte se posiciona como la vendedora con mayor volumen de pólizas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agentes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475960" y="2738846"/>
            <a:ext cx="13336079" cy="5504819"/>
          </a:xfrm>
          <a:custGeom>
            <a:avLst/>
            <a:gdLst/>
            <a:ahLst/>
            <a:cxnLst/>
            <a:rect r="r" b="b" t="t" l="l"/>
            <a:pathLst>
              <a:path h="5504819" w="13336079">
                <a:moveTo>
                  <a:pt x="0" y="0"/>
                </a:moveTo>
                <a:lnTo>
                  <a:pt x="13336080" y="0"/>
                </a:lnTo>
                <a:lnTo>
                  <a:pt x="13336080" y="5504819"/>
                </a:lnTo>
                <a:lnTo>
                  <a:pt x="0" y="550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agentes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75960" y="2738846"/>
            <a:ext cx="13336079" cy="5504819"/>
          </a:xfrm>
          <a:custGeom>
            <a:avLst/>
            <a:gdLst/>
            <a:ahLst/>
            <a:cxnLst/>
            <a:rect r="r" b="b" t="t" l="l"/>
            <a:pathLst>
              <a:path h="5504819" w="13336079">
                <a:moveTo>
                  <a:pt x="0" y="0"/>
                </a:moveTo>
                <a:lnTo>
                  <a:pt x="13336080" y="0"/>
                </a:lnTo>
                <a:lnTo>
                  <a:pt x="13336080" y="5504819"/>
                </a:lnTo>
                <a:lnTo>
                  <a:pt x="0" y="550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648307" y="8984615"/>
            <a:ext cx="1184940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Duarte Francisca lidera en total re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caudado, Leon Agüero tiene el mayor promedio por póliza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agentes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00107" y="2701142"/>
            <a:ext cx="11487785" cy="5580227"/>
          </a:xfrm>
          <a:custGeom>
            <a:avLst/>
            <a:gdLst/>
            <a:ahLst/>
            <a:cxnLst/>
            <a:rect r="r" b="b" t="t" l="l"/>
            <a:pathLst>
              <a:path h="5580227" w="11487785">
                <a:moveTo>
                  <a:pt x="0" y="0"/>
                </a:moveTo>
                <a:lnTo>
                  <a:pt x="11487786" y="0"/>
                </a:lnTo>
                <a:lnTo>
                  <a:pt x="11487786" y="5580227"/>
                </a:lnTo>
                <a:lnTo>
                  <a:pt x="0" y="558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Peritos (Fraude)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400107" y="2701142"/>
            <a:ext cx="11487785" cy="5580227"/>
          </a:xfrm>
          <a:custGeom>
            <a:avLst/>
            <a:gdLst/>
            <a:ahLst/>
            <a:cxnLst/>
            <a:rect r="r" b="b" t="t" l="l"/>
            <a:pathLst>
              <a:path h="5580227" w="11487785">
                <a:moveTo>
                  <a:pt x="0" y="0"/>
                </a:moveTo>
                <a:lnTo>
                  <a:pt x="11487786" y="0"/>
                </a:lnTo>
                <a:lnTo>
                  <a:pt x="11487786" y="5580227"/>
                </a:lnTo>
                <a:lnTo>
                  <a:pt x="0" y="5580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80610" y="9185922"/>
            <a:ext cx="1255645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ánchez León registra la mayor cantidad de siniestros con fraude confirmado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Peritos (Fraude)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330231" y="3122228"/>
            <a:ext cx="16441201" cy="4738055"/>
          </a:xfrm>
          <a:custGeom>
            <a:avLst/>
            <a:gdLst/>
            <a:ahLst/>
            <a:cxnLst/>
            <a:rect r="r" b="b" t="t" l="l"/>
            <a:pathLst>
              <a:path h="4738055" w="16441201">
                <a:moveTo>
                  <a:pt x="0" y="0"/>
                </a:moveTo>
                <a:lnTo>
                  <a:pt x="16441202" y="0"/>
                </a:lnTo>
                <a:lnTo>
                  <a:pt x="16441202" y="4738055"/>
                </a:lnTo>
                <a:lnTo>
                  <a:pt x="0" y="473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735416" y="2070550"/>
            <a:ext cx="7007571" cy="3072950"/>
          </a:xfrm>
          <a:custGeom>
            <a:avLst/>
            <a:gdLst/>
            <a:ahLst/>
            <a:cxnLst/>
            <a:rect r="r" b="b" t="t" l="l"/>
            <a:pathLst>
              <a:path h="3072950" w="7007571">
                <a:moveTo>
                  <a:pt x="0" y="0"/>
                </a:moveTo>
                <a:lnTo>
                  <a:pt x="7007571" y="0"/>
                </a:lnTo>
                <a:lnTo>
                  <a:pt x="7007571" y="3072950"/>
                </a:lnTo>
                <a:lnTo>
                  <a:pt x="0" y="307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Peritos (Fraude)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27585" y="8984615"/>
            <a:ext cx="13392618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ánchez León presenta el </a:t>
            </a:r>
            <a:r>
              <a:rPr lang="en-US" sz="2499" u="sng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mayor porcentaje de fraudes confirmados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sobre el total de sus evaluaciones realizadas, alcanzando un 6%.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330231" y="3122228"/>
            <a:ext cx="16441201" cy="4738055"/>
          </a:xfrm>
          <a:custGeom>
            <a:avLst/>
            <a:gdLst/>
            <a:ahLst/>
            <a:cxnLst/>
            <a:rect r="r" b="b" t="t" l="l"/>
            <a:pathLst>
              <a:path h="4738055" w="16441201">
                <a:moveTo>
                  <a:pt x="0" y="0"/>
                </a:moveTo>
                <a:lnTo>
                  <a:pt x="16441202" y="0"/>
                </a:lnTo>
                <a:lnTo>
                  <a:pt x="16441202" y="4738055"/>
                </a:lnTo>
                <a:lnTo>
                  <a:pt x="0" y="473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735416" y="2070550"/>
            <a:ext cx="7007571" cy="3072950"/>
          </a:xfrm>
          <a:custGeom>
            <a:avLst/>
            <a:gdLst/>
            <a:ahLst/>
            <a:cxnLst/>
            <a:rect r="r" b="b" t="t" l="l"/>
            <a:pathLst>
              <a:path h="3072950" w="7007571">
                <a:moveTo>
                  <a:pt x="0" y="0"/>
                </a:moveTo>
                <a:lnTo>
                  <a:pt x="7007571" y="0"/>
                </a:lnTo>
                <a:lnTo>
                  <a:pt x="7007571" y="3072950"/>
                </a:lnTo>
                <a:lnTo>
                  <a:pt x="0" y="307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Desempeño de Peritos (Fraude)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793142" y="2766515"/>
            <a:ext cx="14701716" cy="5449481"/>
          </a:xfrm>
          <a:custGeom>
            <a:avLst/>
            <a:gdLst/>
            <a:ahLst/>
            <a:cxnLst/>
            <a:rect r="r" b="b" t="t" l="l"/>
            <a:pathLst>
              <a:path h="5449481" w="14701716">
                <a:moveTo>
                  <a:pt x="0" y="0"/>
                </a:moveTo>
                <a:lnTo>
                  <a:pt x="14701716" y="0"/>
                </a:lnTo>
                <a:lnTo>
                  <a:pt x="14701716" y="5449481"/>
                </a:lnTo>
                <a:lnTo>
                  <a:pt x="0" y="544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15917395" y="8760311"/>
            <a:ext cx="18844980" cy="1302071"/>
            <a:chOff x="0" y="0"/>
            <a:chExt cx="25126640" cy="173609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Fraude por provincia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404" y="415196"/>
            <a:ext cx="7172189" cy="2031621"/>
            <a:chOff x="0" y="0"/>
            <a:chExt cx="1416932" cy="4013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6933" cy="401366"/>
            </a:xfrm>
            <a:custGeom>
              <a:avLst/>
              <a:gdLst/>
              <a:ahLst/>
              <a:cxnLst/>
              <a:rect r="r" b="b" t="t" l="l"/>
              <a:pathLst>
                <a:path h="401366" w="1416933">
                  <a:moveTo>
                    <a:pt x="0" y="0"/>
                  </a:moveTo>
                  <a:lnTo>
                    <a:pt x="1213732" y="0"/>
                  </a:lnTo>
                  <a:lnTo>
                    <a:pt x="1416933" y="200683"/>
                  </a:lnTo>
                  <a:lnTo>
                    <a:pt x="1213732" y="401366"/>
                  </a:lnTo>
                  <a:lnTo>
                    <a:pt x="0" y="401366"/>
                  </a:lnTo>
                  <a:lnTo>
                    <a:pt x="203200" y="2006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77800" y="-47625"/>
              <a:ext cx="1162932" cy="448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752847"/>
            <a:chOff x="0" y="0"/>
            <a:chExt cx="4816593" cy="461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61655"/>
            </a:xfrm>
            <a:custGeom>
              <a:avLst/>
              <a:gdLst/>
              <a:ahLst/>
              <a:cxnLst/>
              <a:rect r="r" b="b" t="t" l="l"/>
              <a:pathLst>
                <a:path h="46165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655"/>
                  </a:lnTo>
                  <a:lnTo>
                    <a:pt x="0" y="461655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509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858835" y="5893616"/>
            <a:ext cx="7591373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93142" y="2766515"/>
            <a:ext cx="14701716" cy="5449481"/>
          </a:xfrm>
          <a:custGeom>
            <a:avLst/>
            <a:gdLst/>
            <a:ahLst/>
            <a:cxnLst/>
            <a:rect r="r" b="b" t="t" l="l"/>
            <a:pathLst>
              <a:path h="5449481" w="14701716">
                <a:moveTo>
                  <a:pt x="0" y="0"/>
                </a:moveTo>
                <a:lnTo>
                  <a:pt x="14701716" y="0"/>
                </a:lnTo>
                <a:lnTo>
                  <a:pt x="14701716" y="5449481"/>
                </a:lnTo>
                <a:lnTo>
                  <a:pt x="0" y="54494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654522" y="8048530"/>
            <a:ext cx="5782347" cy="2031621"/>
            <a:chOff x="0" y="0"/>
            <a:chExt cx="7709796" cy="270882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907732" y="0"/>
              <a:ext cx="6802064" cy="2708828"/>
              <a:chOff x="0" y="0"/>
              <a:chExt cx="1007858" cy="40136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07858" cy="401366"/>
              </a:xfrm>
              <a:custGeom>
                <a:avLst/>
                <a:gdLst/>
                <a:ahLst/>
                <a:cxnLst/>
                <a:rect r="r" b="b" t="t" l="l"/>
                <a:pathLst>
                  <a:path h="401366" w="1007858">
                    <a:moveTo>
                      <a:pt x="0" y="0"/>
                    </a:moveTo>
                    <a:lnTo>
                      <a:pt x="804658" y="0"/>
                    </a:lnTo>
                    <a:lnTo>
                      <a:pt x="1007858" y="200683"/>
                    </a:lnTo>
                    <a:lnTo>
                      <a:pt x="804658" y="401366"/>
                    </a:lnTo>
                    <a:lnTo>
                      <a:pt x="0" y="401366"/>
                    </a:lnTo>
                    <a:lnTo>
                      <a:pt x="203200" y="200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BF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47625"/>
                <a:ext cx="753858" cy="4489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36320"/>
              <a:ext cx="7277336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28"/>
                </a:lnSpc>
                <a:spcBef>
                  <a:spcPct val="0"/>
                </a:spcBef>
              </a:pPr>
              <a:r>
                <a:rPr lang="en-US" sz="2273" spc="81">
                  <a:solidFill>
                    <a:srgbClr val="FFFBF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Roll-Up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0" y="8535694"/>
            <a:ext cx="18288000" cy="1751306"/>
            <a:chOff x="0" y="0"/>
            <a:chExt cx="4816593" cy="4612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16592" cy="461249"/>
            </a:xfrm>
            <a:custGeom>
              <a:avLst/>
              <a:gdLst/>
              <a:ahLst/>
              <a:cxnLst/>
              <a:rect r="r" b="b" t="t" l="l"/>
              <a:pathLst>
                <a:path h="4612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61249"/>
                  </a:lnTo>
                  <a:lnTo>
                    <a:pt x="0" y="461249"/>
                  </a:lnTo>
                  <a:close/>
                </a:path>
              </a:pathLst>
            </a:custGeom>
            <a:solidFill>
              <a:srgbClr val="083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816593" cy="508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394771" y="8778079"/>
            <a:ext cx="18844980" cy="1302071"/>
            <a:chOff x="0" y="0"/>
            <a:chExt cx="25126640" cy="173609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18793144" y="4665"/>
              <a:ext cx="6333495" cy="1726765"/>
              <a:chOff x="0" y="0"/>
              <a:chExt cx="938431" cy="255854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712528" y="0"/>
              <a:ext cx="6333495" cy="1726765"/>
              <a:chOff x="0" y="0"/>
              <a:chExt cx="938431" cy="25585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357306" y="4665"/>
              <a:ext cx="6333495" cy="1726765"/>
              <a:chOff x="0" y="0"/>
              <a:chExt cx="938431" cy="25585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35838" y="9330"/>
              <a:ext cx="6333495" cy="1726765"/>
              <a:chOff x="0" y="0"/>
              <a:chExt cx="938431" cy="25585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4355222" y="4665"/>
              <a:ext cx="6333495" cy="1726765"/>
              <a:chOff x="0" y="0"/>
              <a:chExt cx="938431" cy="255854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9330"/>
              <a:ext cx="6333495" cy="1726765"/>
              <a:chOff x="0" y="0"/>
              <a:chExt cx="938431" cy="25585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38431" cy="255854"/>
              </a:xfrm>
              <a:custGeom>
                <a:avLst/>
                <a:gdLst/>
                <a:ahLst/>
                <a:cxnLst/>
                <a:rect r="r" b="b" t="t" l="l"/>
                <a:pathLst>
                  <a:path h="255854" w="938431">
                    <a:moveTo>
                      <a:pt x="0" y="0"/>
                    </a:moveTo>
                    <a:lnTo>
                      <a:pt x="735231" y="0"/>
                    </a:lnTo>
                    <a:lnTo>
                      <a:pt x="938431" y="127927"/>
                    </a:lnTo>
                    <a:lnTo>
                      <a:pt x="735231" y="255854"/>
                    </a:lnTo>
                    <a:lnTo>
                      <a:pt x="0" y="255854"/>
                    </a:lnTo>
                    <a:lnTo>
                      <a:pt x="203200" y="1279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77800" y="-47625"/>
                <a:ext cx="684431" cy="303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1186624" y="8535694"/>
            <a:ext cx="4114208" cy="1751306"/>
            <a:chOff x="0" y="0"/>
            <a:chExt cx="812800" cy="34598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345987"/>
            </a:xfrm>
            <a:custGeom>
              <a:avLst/>
              <a:gdLst/>
              <a:ahLst/>
              <a:cxnLst/>
              <a:rect r="r" b="b" t="t" l="l"/>
              <a:pathLst>
                <a:path h="345987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172993"/>
                  </a:lnTo>
                  <a:lnTo>
                    <a:pt x="609600" y="345987"/>
                  </a:lnTo>
                  <a:lnTo>
                    <a:pt x="0" y="345987"/>
                  </a:lnTo>
                  <a:lnTo>
                    <a:pt x="203200" y="1729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77800" y="-47625"/>
              <a:ext cx="558800" cy="393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27585" y="405671"/>
            <a:ext cx="1243283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7"/>
              </a:lnSpc>
              <a:spcBef>
                <a:spcPct val="0"/>
              </a:spcBef>
            </a:pPr>
            <a:r>
              <a:rPr lang="en-US" b="true" sz="6673" spc="240">
                <a:solidFill>
                  <a:srgbClr val="FFFB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e Insights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99650" y="9185922"/>
            <a:ext cx="12918371" cy="412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Santa Fe</a:t>
            </a:r>
            <a:r>
              <a:rPr lang="en-US" sz="24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registra la proporción más alta de siniestros fraudulentos frente al total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0" y="1895521"/>
            <a:ext cx="545800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28"/>
              </a:lnSpc>
              <a:spcBef>
                <a:spcPct val="0"/>
              </a:spcBef>
            </a:pPr>
            <a:r>
              <a:rPr lang="en-US" sz="2273" spc="81">
                <a:solidFill>
                  <a:srgbClr val="FFFBFB"/>
                </a:solidFill>
                <a:latin typeface="Montserrat"/>
                <a:ea typeface="Montserrat"/>
                <a:cs typeface="Montserrat"/>
                <a:sym typeface="Montserrat"/>
              </a:rPr>
              <a:t>Fraude por provincia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52" y="3955999"/>
            <a:ext cx="7901179" cy="7901179"/>
          </a:xfrm>
          <a:custGeom>
            <a:avLst/>
            <a:gdLst/>
            <a:ahLst/>
            <a:cxnLst/>
            <a:rect r="r" b="b" t="t" l="l"/>
            <a:pathLst>
              <a:path h="7901179" w="7901179">
                <a:moveTo>
                  <a:pt x="0" y="0"/>
                </a:moveTo>
                <a:lnTo>
                  <a:pt x="7901178" y="0"/>
                </a:lnTo>
                <a:lnTo>
                  <a:pt x="7901178" y="7901179"/>
                </a:lnTo>
                <a:lnTo>
                  <a:pt x="0" y="7901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3736455" y="-358338"/>
            <a:ext cx="5101638" cy="5101638"/>
          </a:xfrm>
          <a:custGeom>
            <a:avLst/>
            <a:gdLst/>
            <a:ahLst/>
            <a:cxnLst/>
            <a:rect r="r" b="b" t="t" l="l"/>
            <a:pathLst>
              <a:path h="5101638" w="5101638">
                <a:moveTo>
                  <a:pt x="5101638" y="5101638"/>
                </a:moveTo>
                <a:lnTo>
                  <a:pt x="0" y="5101638"/>
                </a:lnTo>
                <a:lnTo>
                  <a:pt x="0" y="0"/>
                </a:lnTo>
                <a:lnTo>
                  <a:pt x="5101638" y="0"/>
                </a:lnTo>
                <a:lnTo>
                  <a:pt x="5101638" y="51016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610252" y="3691655"/>
            <a:ext cx="19069240" cy="2439113"/>
            <a:chOff x="0" y="0"/>
            <a:chExt cx="5022351" cy="64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2351" cy="642400"/>
            </a:xfrm>
            <a:custGeom>
              <a:avLst/>
              <a:gdLst/>
              <a:ahLst/>
              <a:cxnLst/>
              <a:rect r="r" b="b" t="t" l="l"/>
              <a:pathLst>
                <a:path h="642400" w="5022351">
                  <a:moveTo>
                    <a:pt x="0" y="0"/>
                  </a:moveTo>
                  <a:lnTo>
                    <a:pt x="5022351" y="0"/>
                  </a:lnTo>
                  <a:lnTo>
                    <a:pt x="5022351" y="642400"/>
                  </a:lnTo>
                  <a:lnTo>
                    <a:pt x="0" y="642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22351" cy="690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131448" y="4477824"/>
            <a:ext cx="1158583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58"/>
              </a:lnSpc>
              <a:spcBef>
                <a:spcPct val="0"/>
              </a:spcBef>
            </a:pPr>
            <a:r>
              <a:rPr lang="en-US" b="true" sz="5715" spc="205">
                <a:solidFill>
                  <a:srgbClr val="2A2E3A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Conclusiones y Decisiones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52" y="3955999"/>
            <a:ext cx="7901179" cy="7901179"/>
          </a:xfrm>
          <a:custGeom>
            <a:avLst/>
            <a:gdLst/>
            <a:ahLst/>
            <a:cxnLst/>
            <a:rect r="r" b="b" t="t" l="l"/>
            <a:pathLst>
              <a:path h="7901179" w="7901179">
                <a:moveTo>
                  <a:pt x="0" y="0"/>
                </a:moveTo>
                <a:lnTo>
                  <a:pt x="7901178" y="0"/>
                </a:lnTo>
                <a:lnTo>
                  <a:pt x="7901178" y="7901179"/>
                </a:lnTo>
                <a:lnTo>
                  <a:pt x="0" y="7901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3736455" y="-358338"/>
            <a:ext cx="5101638" cy="5101638"/>
          </a:xfrm>
          <a:custGeom>
            <a:avLst/>
            <a:gdLst/>
            <a:ahLst/>
            <a:cxnLst/>
            <a:rect r="r" b="b" t="t" l="l"/>
            <a:pathLst>
              <a:path h="5101638" w="5101638">
                <a:moveTo>
                  <a:pt x="5101638" y="5101638"/>
                </a:moveTo>
                <a:lnTo>
                  <a:pt x="0" y="5101638"/>
                </a:lnTo>
                <a:lnTo>
                  <a:pt x="0" y="0"/>
                </a:lnTo>
                <a:lnTo>
                  <a:pt x="5101638" y="0"/>
                </a:lnTo>
                <a:lnTo>
                  <a:pt x="5101638" y="51016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610252" y="1346650"/>
            <a:ext cx="19069240" cy="7593700"/>
            <a:chOff x="0" y="0"/>
            <a:chExt cx="5022351" cy="1999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2351" cy="1999987"/>
            </a:xfrm>
            <a:custGeom>
              <a:avLst/>
              <a:gdLst/>
              <a:ahLst/>
              <a:cxnLst/>
              <a:rect r="r" b="b" t="t" l="l"/>
              <a:pathLst>
                <a:path h="1999987" w="5022351">
                  <a:moveTo>
                    <a:pt x="0" y="0"/>
                  </a:moveTo>
                  <a:lnTo>
                    <a:pt x="5022351" y="0"/>
                  </a:lnTo>
                  <a:lnTo>
                    <a:pt x="5022351" y="1999987"/>
                  </a:lnTo>
                  <a:lnTo>
                    <a:pt x="0" y="19999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22351" cy="204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02254" y="1537367"/>
            <a:ext cx="17585746" cy="126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b="true" sz="2466" spc="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Hallazgo</a:t>
            </a:r>
            <a:r>
              <a:rPr lang="en-US" sz="2466" spc="54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b="true" sz="2466" spc="54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plan Premium opera en déficit</a:t>
            </a:r>
          </a:p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sz="2366" spc="52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El plan que más prima cobra es el único que pierde dinero: ingresa ~$125M pero paga ~$200M en siniestros. Básico y Estándar subsidian esa pérdida.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254" y="3222574"/>
            <a:ext cx="1654358" cy="14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  <a:spcBef>
                <a:spcPct val="0"/>
              </a:spcBef>
            </a:pPr>
            <a:r>
              <a:rPr lang="en-US" b="true" sz="9319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13856" y="3571303"/>
            <a:ext cx="13979747" cy="86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b="true" sz="2466" spc="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Aumentar valores de prima en tipos de seguros premium que nos generan un beneficio neto negativo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2254" y="5052346"/>
            <a:ext cx="1654358" cy="14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  <a:spcBef>
                <a:spcPct val="0"/>
              </a:spcBef>
            </a:pPr>
            <a:r>
              <a:rPr lang="en-US" b="true" sz="9319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88379" y="5298465"/>
            <a:ext cx="13979747" cy="86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b="true" sz="2466" spc="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Concentrar nuestros planes de marketing a empleados de CABA que son los que compran los seguros premium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254" y="6882117"/>
            <a:ext cx="1654358" cy="14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  <a:spcBef>
                <a:spcPct val="0"/>
              </a:spcBef>
            </a:pPr>
            <a:r>
              <a:rPr lang="en-US" b="true" sz="9319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2902" y="7128237"/>
            <a:ext cx="13979747" cy="86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b="true" sz="2466" spc="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Revisar las condiciones de cobertura del seguro de personas Premium para jubilados, dado que es el segmento que más pérdidas genera dentro de ese plan.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52" y="3955999"/>
            <a:ext cx="7901179" cy="7901179"/>
          </a:xfrm>
          <a:custGeom>
            <a:avLst/>
            <a:gdLst/>
            <a:ahLst/>
            <a:cxnLst/>
            <a:rect r="r" b="b" t="t" l="l"/>
            <a:pathLst>
              <a:path h="7901179" w="7901179">
                <a:moveTo>
                  <a:pt x="0" y="0"/>
                </a:moveTo>
                <a:lnTo>
                  <a:pt x="7901178" y="0"/>
                </a:lnTo>
                <a:lnTo>
                  <a:pt x="7901178" y="7901179"/>
                </a:lnTo>
                <a:lnTo>
                  <a:pt x="0" y="7901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3736455" y="-358338"/>
            <a:ext cx="5101638" cy="5101638"/>
          </a:xfrm>
          <a:custGeom>
            <a:avLst/>
            <a:gdLst/>
            <a:ahLst/>
            <a:cxnLst/>
            <a:rect r="r" b="b" t="t" l="l"/>
            <a:pathLst>
              <a:path h="5101638" w="5101638">
                <a:moveTo>
                  <a:pt x="5101638" y="5101638"/>
                </a:moveTo>
                <a:lnTo>
                  <a:pt x="0" y="5101638"/>
                </a:lnTo>
                <a:lnTo>
                  <a:pt x="0" y="0"/>
                </a:lnTo>
                <a:lnTo>
                  <a:pt x="5101638" y="0"/>
                </a:lnTo>
                <a:lnTo>
                  <a:pt x="5101638" y="51016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610252" y="1346650"/>
            <a:ext cx="19069240" cy="7593700"/>
            <a:chOff x="0" y="0"/>
            <a:chExt cx="5022351" cy="1999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2351" cy="1999987"/>
            </a:xfrm>
            <a:custGeom>
              <a:avLst/>
              <a:gdLst/>
              <a:ahLst/>
              <a:cxnLst/>
              <a:rect r="r" b="b" t="t" l="l"/>
              <a:pathLst>
                <a:path h="1999987" w="5022351">
                  <a:moveTo>
                    <a:pt x="0" y="0"/>
                  </a:moveTo>
                  <a:lnTo>
                    <a:pt x="5022351" y="0"/>
                  </a:lnTo>
                  <a:lnTo>
                    <a:pt x="5022351" y="1999987"/>
                  </a:lnTo>
                  <a:lnTo>
                    <a:pt x="0" y="19999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22351" cy="204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02254" y="1452607"/>
            <a:ext cx="17585746" cy="201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366" spc="52" strike="noStrike" u="none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Hallazgo 2: El fraude tiene geografía y nombre</a:t>
            </a:r>
          </a:p>
          <a:p>
            <a:pPr algn="l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266" spc="4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Las provincias con mayor tasa de fraude no son las que más siniestros tienen en volumen. Entre Ríos, Santa Fe y Chaco lideran en proporción. Santa Fe tiene el monto promedio fraudulento más alto (~$375.000). </a:t>
            </a:r>
          </a:p>
          <a:p>
            <a:pPr algn="l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266" spc="49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Los peritos con más fraudes confirmados siguen activos en la organización</a:t>
            </a:r>
          </a:p>
          <a:p>
            <a:pPr algn="l" marL="0" indent="0" lvl="0">
              <a:lnSpc>
                <a:spcPts val="317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02254" y="3255425"/>
            <a:ext cx="1654358" cy="14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  <a:spcBef>
                <a:spcPct val="0"/>
              </a:spcBef>
            </a:pPr>
            <a:r>
              <a:rPr lang="en-US" b="true" sz="9319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57654" y="3501545"/>
            <a:ext cx="13979747" cy="86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b="true" sz="2466" spc="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Focalizar auditorías en esas 5 provincias antes que ampliar controles a nivel nacional.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2254" y="5153025"/>
            <a:ext cx="1654358" cy="14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  <a:spcBef>
                <a:spcPct val="0"/>
              </a:spcBef>
            </a:pPr>
            <a:r>
              <a:rPr lang="en-US" b="true" sz="9319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34635" y="5399145"/>
            <a:ext cx="13979747" cy="86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b="true" sz="2466" spc="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Ajustar el valor de la prima en esas provincias para reflejar el mayor riesgo de fraude detectado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254" y="7049472"/>
            <a:ext cx="1654358" cy="1410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83"/>
              </a:lnSpc>
              <a:spcBef>
                <a:spcPct val="0"/>
              </a:spcBef>
            </a:pPr>
            <a:r>
              <a:rPr lang="en-US" b="true" sz="9319">
                <a:solidFill>
                  <a:srgbClr val="4DBF38">
                    <a:alpha val="51765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4635" y="7295592"/>
            <a:ext cx="13979747" cy="86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2"/>
              </a:lnSpc>
              <a:spcBef>
                <a:spcPct val="0"/>
              </a:spcBef>
            </a:pPr>
            <a:r>
              <a:rPr lang="en-US" b="true" sz="2466" spc="5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Abrir una auditoría interna sobre Sánchez León y evaluar la situación de Acosta Lucas, Avila Gael, Diaz Emiliano y Pereyra Valentino para posibles sanciones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52" y="3955999"/>
            <a:ext cx="7901179" cy="7901179"/>
          </a:xfrm>
          <a:custGeom>
            <a:avLst/>
            <a:gdLst/>
            <a:ahLst/>
            <a:cxnLst/>
            <a:rect r="r" b="b" t="t" l="l"/>
            <a:pathLst>
              <a:path h="7901179" w="7901179">
                <a:moveTo>
                  <a:pt x="0" y="0"/>
                </a:moveTo>
                <a:lnTo>
                  <a:pt x="7901178" y="0"/>
                </a:lnTo>
                <a:lnTo>
                  <a:pt x="7901178" y="7901179"/>
                </a:lnTo>
                <a:lnTo>
                  <a:pt x="0" y="7901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3736455" y="-358338"/>
            <a:ext cx="5101638" cy="5101638"/>
          </a:xfrm>
          <a:custGeom>
            <a:avLst/>
            <a:gdLst/>
            <a:ahLst/>
            <a:cxnLst/>
            <a:rect r="r" b="b" t="t" l="l"/>
            <a:pathLst>
              <a:path h="5101638" w="5101638">
                <a:moveTo>
                  <a:pt x="5101638" y="5101638"/>
                </a:moveTo>
                <a:lnTo>
                  <a:pt x="0" y="5101638"/>
                </a:lnTo>
                <a:lnTo>
                  <a:pt x="0" y="0"/>
                </a:lnTo>
                <a:lnTo>
                  <a:pt x="5101638" y="0"/>
                </a:lnTo>
                <a:lnTo>
                  <a:pt x="5101638" y="51016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600727" y="1346650"/>
            <a:ext cx="19069240" cy="7593700"/>
            <a:chOff x="0" y="0"/>
            <a:chExt cx="5022351" cy="1999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2351" cy="1999987"/>
            </a:xfrm>
            <a:custGeom>
              <a:avLst/>
              <a:gdLst/>
              <a:ahLst/>
              <a:cxnLst/>
              <a:rect r="r" b="b" t="t" l="l"/>
              <a:pathLst>
                <a:path h="1999987" w="5022351">
                  <a:moveTo>
                    <a:pt x="0" y="0"/>
                  </a:moveTo>
                  <a:lnTo>
                    <a:pt x="5022351" y="0"/>
                  </a:lnTo>
                  <a:lnTo>
                    <a:pt x="5022351" y="1999987"/>
                  </a:lnTo>
                  <a:lnTo>
                    <a:pt x="0" y="19999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22351" cy="204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67848" y="2399693"/>
            <a:ext cx="1175122" cy="1274787"/>
          </a:xfrm>
          <a:custGeom>
            <a:avLst/>
            <a:gdLst/>
            <a:ahLst/>
            <a:cxnLst/>
            <a:rect r="r" b="b" t="t" l="l"/>
            <a:pathLst>
              <a:path h="1274787" w="1175122">
                <a:moveTo>
                  <a:pt x="0" y="0"/>
                </a:moveTo>
                <a:lnTo>
                  <a:pt x="1175122" y="0"/>
                </a:lnTo>
                <a:lnTo>
                  <a:pt x="1175122" y="1274787"/>
                </a:lnTo>
                <a:lnTo>
                  <a:pt x="0" y="12747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855712" y="2399693"/>
            <a:ext cx="1274787" cy="1274787"/>
          </a:xfrm>
          <a:custGeom>
            <a:avLst/>
            <a:gdLst/>
            <a:ahLst/>
            <a:cxnLst/>
            <a:rect r="r" b="b" t="t" l="l"/>
            <a:pathLst>
              <a:path h="1274787" w="1274787">
                <a:moveTo>
                  <a:pt x="0" y="0"/>
                </a:moveTo>
                <a:lnTo>
                  <a:pt x="1274787" y="0"/>
                </a:lnTo>
                <a:lnTo>
                  <a:pt x="1274787" y="1274787"/>
                </a:lnTo>
                <a:lnTo>
                  <a:pt x="0" y="127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60335" y="5619163"/>
            <a:ext cx="904208" cy="1164671"/>
          </a:xfrm>
          <a:custGeom>
            <a:avLst/>
            <a:gdLst/>
            <a:ahLst/>
            <a:cxnLst/>
            <a:rect r="r" b="b" t="t" l="l"/>
            <a:pathLst>
              <a:path h="1164671" w="904208">
                <a:moveTo>
                  <a:pt x="0" y="0"/>
                </a:moveTo>
                <a:lnTo>
                  <a:pt x="904209" y="0"/>
                </a:lnTo>
                <a:lnTo>
                  <a:pt x="904209" y="1164671"/>
                </a:lnTo>
                <a:lnTo>
                  <a:pt x="0" y="11646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70695" y="5885865"/>
            <a:ext cx="941745" cy="1084564"/>
          </a:xfrm>
          <a:custGeom>
            <a:avLst/>
            <a:gdLst/>
            <a:ahLst/>
            <a:cxnLst/>
            <a:rect r="r" b="b" t="t" l="l"/>
            <a:pathLst>
              <a:path h="1084564" w="941745">
                <a:moveTo>
                  <a:pt x="0" y="0"/>
                </a:moveTo>
                <a:lnTo>
                  <a:pt x="941745" y="0"/>
                </a:lnTo>
                <a:lnTo>
                  <a:pt x="941745" y="1084564"/>
                </a:lnTo>
                <a:lnTo>
                  <a:pt x="0" y="10845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951200" y="6449761"/>
            <a:ext cx="661286" cy="563896"/>
          </a:xfrm>
          <a:custGeom>
            <a:avLst/>
            <a:gdLst/>
            <a:ahLst/>
            <a:cxnLst/>
            <a:rect r="r" b="b" t="t" l="l"/>
            <a:pathLst>
              <a:path h="563896" w="661286">
                <a:moveTo>
                  <a:pt x="0" y="0"/>
                </a:moveTo>
                <a:lnTo>
                  <a:pt x="661285" y="0"/>
                </a:lnTo>
                <a:lnTo>
                  <a:pt x="661285" y="563896"/>
                </a:lnTo>
                <a:lnTo>
                  <a:pt x="0" y="5638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01550" y="5845342"/>
            <a:ext cx="1228949" cy="1208838"/>
          </a:xfrm>
          <a:custGeom>
            <a:avLst/>
            <a:gdLst/>
            <a:ahLst/>
            <a:cxnLst/>
            <a:rect r="r" b="b" t="t" l="l"/>
            <a:pathLst>
              <a:path h="1208838" w="1228949">
                <a:moveTo>
                  <a:pt x="0" y="0"/>
                </a:moveTo>
                <a:lnTo>
                  <a:pt x="1228949" y="0"/>
                </a:lnTo>
                <a:lnTo>
                  <a:pt x="1228949" y="1208838"/>
                </a:lnTo>
                <a:lnTo>
                  <a:pt x="0" y="12088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-3488436" y="1346650"/>
            <a:ext cx="1241280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38"/>
              </a:lnSpc>
              <a:spcBef>
                <a:spcPct val="0"/>
              </a:spcBef>
            </a:pPr>
            <a:r>
              <a:rPr lang="en-US" b="true" sz="5115" spc="18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3261" y="3908374"/>
            <a:ext cx="6744297" cy="158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5"/>
              </a:lnSpc>
            </a:pPr>
            <a:r>
              <a:rPr lang="en-US" b="true" sz="2268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Rentabilidad parcial</a:t>
            </a:r>
          </a:p>
          <a:p>
            <a:pPr algn="ctr" marL="0" indent="0" lvl="0">
              <a:lnSpc>
                <a:spcPts val="3175"/>
              </a:lnSpc>
              <a:spcBef>
                <a:spcPct val="0"/>
              </a:spcBef>
            </a:pPr>
            <a:r>
              <a:rPr lang="en-US" sz="2268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El análisis estima ingresos por primas y egresos por siniestros, sin contemplar el resto de los costos operativos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44654" y="3907336"/>
            <a:ext cx="7696903" cy="159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8"/>
              </a:lnSpc>
            </a:pPr>
            <a:r>
              <a:rPr lang="en-US" b="true" sz="2270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Evaluación de agentes sin contexto</a:t>
            </a:r>
          </a:p>
          <a:p>
            <a:pPr algn="ctr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270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El desempeño se mide sin considerar antigüedad, zona asignada o dificultad de la cartera, lo que puede sesgar las comparaciones entre agentes.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64985" y="7087692"/>
            <a:ext cx="6856240" cy="159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8"/>
              </a:lnSpc>
            </a:pPr>
            <a:r>
              <a:rPr lang="en-US" b="true" sz="2270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externas ausentes</a:t>
            </a:r>
          </a:p>
          <a:p>
            <a:pPr algn="ctr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270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El modelo no incorpora factores como inflación, contexto macroeconómico o cambios normativos.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4835" y="7087692"/>
            <a:ext cx="7741148" cy="1590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8"/>
              </a:lnSpc>
            </a:pPr>
            <a:r>
              <a:rPr lang="en-US" b="true" sz="2270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Perfil de riesgo incompleto</a:t>
            </a:r>
          </a:p>
          <a:p>
            <a:pPr algn="ctr" marL="0" indent="0" lvl="0">
              <a:lnSpc>
                <a:spcPts val="3178"/>
              </a:lnSpc>
              <a:spcBef>
                <a:spcPct val="0"/>
              </a:spcBef>
            </a:pPr>
            <a:r>
              <a:rPr lang="en-US" sz="2270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La base solo registra datos demográficos básicos sin factores clave como su historial médico o antecedentes de manejo.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52" y="3955999"/>
            <a:ext cx="7901179" cy="7901179"/>
          </a:xfrm>
          <a:custGeom>
            <a:avLst/>
            <a:gdLst/>
            <a:ahLst/>
            <a:cxnLst/>
            <a:rect r="r" b="b" t="t" l="l"/>
            <a:pathLst>
              <a:path h="7901179" w="7901179">
                <a:moveTo>
                  <a:pt x="0" y="0"/>
                </a:moveTo>
                <a:lnTo>
                  <a:pt x="7901178" y="0"/>
                </a:lnTo>
                <a:lnTo>
                  <a:pt x="7901178" y="7901179"/>
                </a:lnTo>
                <a:lnTo>
                  <a:pt x="0" y="7901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3736455" y="-358338"/>
            <a:ext cx="5101638" cy="5101638"/>
          </a:xfrm>
          <a:custGeom>
            <a:avLst/>
            <a:gdLst/>
            <a:ahLst/>
            <a:cxnLst/>
            <a:rect r="r" b="b" t="t" l="l"/>
            <a:pathLst>
              <a:path h="5101638" w="5101638">
                <a:moveTo>
                  <a:pt x="5101638" y="5101638"/>
                </a:moveTo>
                <a:lnTo>
                  <a:pt x="0" y="5101638"/>
                </a:lnTo>
                <a:lnTo>
                  <a:pt x="0" y="0"/>
                </a:lnTo>
                <a:lnTo>
                  <a:pt x="5101638" y="0"/>
                </a:lnTo>
                <a:lnTo>
                  <a:pt x="5101638" y="51016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610252" y="1346650"/>
            <a:ext cx="19069240" cy="7593700"/>
            <a:chOff x="0" y="0"/>
            <a:chExt cx="5022351" cy="1999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2351" cy="1999987"/>
            </a:xfrm>
            <a:custGeom>
              <a:avLst/>
              <a:gdLst/>
              <a:ahLst/>
              <a:cxnLst/>
              <a:rect r="r" b="b" t="t" l="l"/>
              <a:pathLst>
                <a:path h="1999987" w="5022351">
                  <a:moveTo>
                    <a:pt x="0" y="0"/>
                  </a:moveTo>
                  <a:lnTo>
                    <a:pt x="5022351" y="0"/>
                  </a:lnTo>
                  <a:lnTo>
                    <a:pt x="5022351" y="1999987"/>
                  </a:lnTo>
                  <a:lnTo>
                    <a:pt x="0" y="19999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22351" cy="204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53510" y="2248836"/>
            <a:ext cx="1274307" cy="1576502"/>
          </a:xfrm>
          <a:custGeom>
            <a:avLst/>
            <a:gdLst/>
            <a:ahLst/>
            <a:cxnLst/>
            <a:rect r="r" b="b" t="t" l="l"/>
            <a:pathLst>
              <a:path h="1576502" w="1274307">
                <a:moveTo>
                  <a:pt x="0" y="0"/>
                </a:moveTo>
                <a:lnTo>
                  <a:pt x="1274307" y="0"/>
                </a:lnTo>
                <a:lnTo>
                  <a:pt x="1274307" y="1576502"/>
                </a:lnTo>
                <a:lnTo>
                  <a:pt x="0" y="1576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89377" y="2390009"/>
            <a:ext cx="1294157" cy="1294157"/>
          </a:xfrm>
          <a:custGeom>
            <a:avLst/>
            <a:gdLst/>
            <a:ahLst/>
            <a:cxnLst/>
            <a:rect r="r" b="b" t="t" l="l"/>
            <a:pathLst>
              <a:path h="1294157" w="1294157">
                <a:moveTo>
                  <a:pt x="0" y="0"/>
                </a:moveTo>
                <a:lnTo>
                  <a:pt x="1294156" y="0"/>
                </a:lnTo>
                <a:lnTo>
                  <a:pt x="1294156" y="1294156"/>
                </a:lnTo>
                <a:lnTo>
                  <a:pt x="0" y="1294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504728" y="5658181"/>
            <a:ext cx="1171871" cy="1216092"/>
          </a:xfrm>
          <a:custGeom>
            <a:avLst/>
            <a:gdLst/>
            <a:ahLst/>
            <a:cxnLst/>
            <a:rect r="r" b="b" t="t" l="l"/>
            <a:pathLst>
              <a:path h="1216092" w="1171871">
                <a:moveTo>
                  <a:pt x="0" y="0"/>
                </a:moveTo>
                <a:lnTo>
                  <a:pt x="1171871" y="0"/>
                </a:lnTo>
                <a:lnTo>
                  <a:pt x="1171871" y="1216092"/>
                </a:lnTo>
                <a:lnTo>
                  <a:pt x="0" y="12160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48055" y="5497473"/>
            <a:ext cx="1376799" cy="1376799"/>
          </a:xfrm>
          <a:custGeom>
            <a:avLst/>
            <a:gdLst/>
            <a:ahLst/>
            <a:cxnLst/>
            <a:rect r="r" b="b" t="t" l="l"/>
            <a:pathLst>
              <a:path h="1376799" w="1376799">
                <a:moveTo>
                  <a:pt x="0" y="0"/>
                </a:moveTo>
                <a:lnTo>
                  <a:pt x="1376800" y="0"/>
                </a:lnTo>
                <a:lnTo>
                  <a:pt x="1376800" y="1376800"/>
                </a:lnTo>
                <a:lnTo>
                  <a:pt x="0" y="1376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2866065" y="1346650"/>
            <a:ext cx="1241280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38"/>
              </a:lnSpc>
              <a:spcBef>
                <a:spcPct val="0"/>
              </a:spcBef>
            </a:pPr>
            <a:r>
              <a:rPr lang="en-US" b="true" sz="5115" spc="184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Mejoras futuras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0165" y="3908374"/>
            <a:ext cx="7520997" cy="119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266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Detección predictiva de fraude</a:t>
            </a:r>
          </a:p>
          <a:p>
            <a:pPr algn="ctr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266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Incorporar machine learning para anticipar el riesgo de fraude antes de la evaluación del perito.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53924" y="3908374"/>
            <a:ext cx="7365062" cy="119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266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Segmentación más precisa</a:t>
            </a:r>
          </a:p>
          <a:p>
            <a:pPr algn="ctr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266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Agregar variables propias de cada producto permitiría armar segmentos de riesgo más finos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6959" y="7087645"/>
            <a:ext cx="7667408" cy="159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266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Análisis a nivel barrio</a:t>
            </a:r>
          </a:p>
          <a:p>
            <a:pPr algn="ctr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266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Bajar el nivel geográfico de provincia a barrio, para entender mejor la dinámica de siniestros dentro de las ciudades.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85316" y="7087645"/>
            <a:ext cx="6502277" cy="159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266" spc="4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Alertas automáticas</a:t>
            </a:r>
          </a:p>
          <a:p>
            <a:pPr algn="ctr" marL="0" indent="0" lvl="0">
              <a:lnSpc>
                <a:spcPts val="3172"/>
              </a:lnSpc>
              <a:spcBef>
                <a:spcPct val="0"/>
              </a:spcBef>
            </a:pPr>
            <a:r>
              <a:rPr lang="en-US" sz="2266" spc="4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Automatizar notificaciones en Metabase ante desvíos relevantes en fraude, siniestralidad o rentabilidad.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93265" y="-2905122"/>
            <a:ext cx="9499315" cy="11421812"/>
            <a:chOff x="0" y="0"/>
            <a:chExt cx="12665753" cy="15229082"/>
          </a:xfrm>
        </p:grpSpPr>
        <p:grpSp>
          <p:nvGrpSpPr>
            <p:cNvPr name="Group 3" id="3"/>
            <p:cNvGrpSpPr/>
            <p:nvPr/>
          </p:nvGrpSpPr>
          <p:grpSpPr>
            <a:xfrm rot="-2700000">
              <a:off x="2236151" y="1473562"/>
              <a:ext cx="8193452" cy="9718628"/>
              <a:chOff x="0" y="0"/>
              <a:chExt cx="1618460" cy="191972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18460" cy="1919729"/>
              </a:xfrm>
              <a:custGeom>
                <a:avLst/>
                <a:gdLst/>
                <a:ahLst/>
                <a:cxnLst/>
                <a:rect r="r" b="b" t="t" l="l"/>
                <a:pathLst>
                  <a:path h="1919729" w="1618460">
                    <a:moveTo>
                      <a:pt x="0" y="0"/>
                    </a:moveTo>
                    <a:lnTo>
                      <a:pt x="1618460" y="0"/>
                    </a:lnTo>
                    <a:lnTo>
                      <a:pt x="1618460" y="1919729"/>
                    </a:lnTo>
                    <a:lnTo>
                      <a:pt x="0" y="1919729"/>
                    </a:lnTo>
                    <a:close/>
                  </a:path>
                </a:pathLst>
              </a:custGeom>
              <a:solidFill>
                <a:srgbClr val="052A4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1618460" cy="19673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5400000">
              <a:off x="-2436885" y="4840258"/>
              <a:ext cx="12825709" cy="7951940"/>
            </a:xfrm>
            <a:custGeom>
              <a:avLst/>
              <a:gdLst/>
              <a:ahLst/>
              <a:cxnLst/>
              <a:rect r="r" b="b" t="t" l="l"/>
              <a:pathLst>
                <a:path h="7951940" w="12825709">
                  <a:moveTo>
                    <a:pt x="0" y="0"/>
                  </a:moveTo>
                  <a:lnTo>
                    <a:pt x="12825709" y="0"/>
                  </a:lnTo>
                  <a:lnTo>
                    <a:pt x="12825709" y="7951940"/>
                  </a:lnTo>
                  <a:lnTo>
                    <a:pt x="0" y="7951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aphicFrame>
        <p:nvGraphicFramePr>
          <p:cNvPr name="Object 7" id="7"/>
          <p:cNvGraphicFramePr/>
          <p:nvPr/>
        </p:nvGraphicFramePr>
        <p:xfrm>
          <a:off x="494477" y="4920710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94477" y="108033"/>
            <a:ext cx="8149287" cy="156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389"/>
              </a:lnSpc>
              <a:spcBef>
                <a:spcPct val="0"/>
              </a:spcBef>
            </a:pPr>
            <a:r>
              <a:rPr lang="en-US" b="true" sz="10324" spc="37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974" y="1423441"/>
            <a:ext cx="14900396" cy="349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predice?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Fraude por siniestro, antes de liberar el pago. Clasificación binaria: fraude / legítimo.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¿Con qué datos?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fact_siniestro + dimensiones del DW. 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clave</a:t>
            </a:r>
            <a:r>
              <a:rPr lang="en-US" sz="219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Financiera: gap entre monto declarado (cliente) y evaluado (perito).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Temporal: días desde el inicio de la póliza (Fraude de oportunidad temprana).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Contexto: provincia, tipo de siniestro, perito y perfil del cliente (ocupación).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¿Cómo se evaluó? (749 siniestros de testeo, 19 fraudes reales)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974" y="7787302"/>
            <a:ext cx="18142026" cy="1975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sz="223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El umbral se eligió por costo económico real: $382.180 por fraude no detectado vs. $15.000 por falsa alarma.</a:t>
            </a:r>
          </a:p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b="true" sz="2236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¿Para qué decisión sirve?</a:t>
            </a:r>
          </a:p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sz="223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Priorizar la revisión manual del equipo de auditoría. En lugar de revisar el 100% de expedientes, el modelo marca los sospechosos para pedir documentación adicional, segunda revisión pericial o generar alertas en provincias de alto riesgo.</a:t>
            </a:r>
          </a:p>
          <a:p>
            <a:pPr algn="l">
              <a:lnSpc>
                <a:spcPts val="3130"/>
              </a:lnSpc>
              <a:spcBef>
                <a:spcPct val="0"/>
              </a:spcBef>
            </a:pPr>
            <a:r>
              <a:rPr lang="en-US" b="true" sz="2236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Limitación clave</a:t>
            </a:r>
            <a:r>
              <a:rPr lang="en-US" sz="223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: nunca reemplaza la decisión humana. Es una herramienta de alerta, no de rechazo automático.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10252" y="3955999"/>
            <a:ext cx="7901179" cy="7901179"/>
          </a:xfrm>
          <a:custGeom>
            <a:avLst/>
            <a:gdLst/>
            <a:ahLst/>
            <a:cxnLst/>
            <a:rect r="r" b="b" t="t" l="l"/>
            <a:pathLst>
              <a:path h="7901179" w="7901179">
                <a:moveTo>
                  <a:pt x="0" y="0"/>
                </a:moveTo>
                <a:lnTo>
                  <a:pt x="7901178" y="0"/>
                </a:lnTo>
                <a:lnTo>
                  <a:pt x="7901178" y="7901179"/>
                </a:lnTo>
                <a:lnTo>
                  <a:pt x="0" y="79011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true" rot="0">
            <a:off x="13736455" y="-358338"/>
            <a:ext cx="5101638" cy="5101638"/>
          </a:xfrm>
          <a:custGeom>
            <a:avLst/>
            <a:gdLst/>
            <a:ahLst/>
            <a:cxnLst/>
            <a:rect r="r" b="b" t="t" l="l"/>
            <a:pathLst>
              <a:path h="5101638" w="5101638">
                <a:moveTo>
                  <a:pt x="5101638" y="5101638"/>
                </a:moveTo>
                <a:lnTo>
                  <a:pt x="0" y="5101638"/>
                </a:lnTo>
                <a:lnTo>
                  <a:pt x="0" y="0"/>
                </a:lnTo>
                <a:lnTo>
                  <a:pt x="5101638" y="0"/>
                </a:lnTo>
                <a:lnTo>
                  <a:pt x="5101638" y="51016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610252" y="1346650"/>
            <a:ext cx="19069240" cy="7593700"/>
            <a:chOff x="0" y="0"/>
            <a:chExt cx="5022351" cy="19999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22351" cy="1999987"/>
            </a:xfrm>
            <a:custGeom>
              <a:avLst/>
              <a:gdLst/>
              <a:ahLst/>
              <a:cxnLst/>
              <a:rect r="r" b="b" t="t" l="l"/>
              <a:pathLst>
                <a:path h="1999987" w="5022351">
                  <a:moveTo>
                    <a:pt x="0" y="0"/>
                  </a:moveTo>
                  <a:lnTo>
                    <a:pt x="5022351" y="0"/>
                  </a:lnTo>
                  <a:lnTo>
                    <a:pt x="5022351" y="1999987"/>
                  </a:lnTo>
                  <a:lnTo>
                    <a:pt x="0" y="19999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022351" cy="2047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42195" y="7088697"/>
            <a:ext cx="1340361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79"/>
              </a:lnSpc>
              <a:spcBef>
                <a:spcPct val="0"/>
              </a:spcBef>
            </a:pPr>
            <a:r>
              <a:rPr lang="en-US" b="true" sz="6483" spc="233">
                <a:solidFill>
                  <a:srgbClr val="2A2E3A"/>
                </a:solidFill>
                <a:latin typeface="Arimo Bold"/>
                <a:ea typeface="Arimo Bold"/>
                <a:cs typeface="Arimo Bold"/>
                <a:sym typeface="Arimo Bold"/>
              </a:rPr>
              <a:t>Dudas?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42195" y="4014637"/>
            <a:ext cx="1340361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499"/>
              </a:lnSpc>
              <a:spcBef>
                <a:spcPct val="0"/>
              </a:spcBef>
            </a:pPr>
            <a:r>
              <a:rPr lang="en-US" b="true" sz="9582" spc="344">
                <a:solidFill>
                  <a:srgbClr val="051D4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Muchas Gracias!!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DAHMN_h0tjg</dc:identifier>
  <dcterms:modified xsi:type="dcterms:W3CDTF">2011-08-01T06:04:30Z</dcterms:modified>
  <cp:revision>1</cp:revision>
  <dc:title>Presentacion - Grupo 7</dc:title>
</cp:coreProperties>
</file>